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2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5"/>
  </p:normalViewPr>
  <p:slideViewPr>
    <p:cSldViewPr snapToGrid="0">
      <p:cViewPr varScale="1">
        <p:scale>
          <a:sx n="119" d="100"/>
          <a:sy n="119" d="100"/>
        </p:scale>
        <p:origin x="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4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47" name="PlaceHolder 4"/>
          <p:cNvSpPr>
            <a:spLocks noGrp="1"/>
          </p:cNvSpPr>
          <p:nvPr>
            <p:ph type="dt" idx="73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48" name="PlaceHolder 5"/>
          <p:cNvSpPr>
            <a:spLocks noGrp="1"/>
          </p:cNvSpPr>
          <p:nvPr>
            <p:ph type="ftr" idx="7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49" name="PlaceHolder 6"/>
          <p:cNvSpPr>
            <a:spLocks noGrp="1"/>
          </p:cNvSpPr>
          <p:nvPr>
            <p:ph type="sldNum" idx="7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2222A85-548F-4CC5-8F21-E0EA16D0E7F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Ejection fraction: is the percentage of blood that heart pumps out. 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 oxygen blood from body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right atrium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right ventricle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lung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High oxygen blood from lung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left atrium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left ventricle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body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149D8AC-F79A-4BA3-B118-228B0C3A284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7716DE-A1DF-4443-8F04-E0DF6B742DFD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" name="PlaceHolder 4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1547B2-7A78-4131-8748-DF8FA0DBE230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6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2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622620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" name="PlaceHolder 6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7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9FD6F39-0317-49FB-93C3-D95B7EC956C0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8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39344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794916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83808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2" name="PlaceHolder 6"/>
          <p:cNvSpPr>
            <a:spLocks noGrp="1"/>
          </p:cNvSpPr>
          <p:nvPr>
            <p:ph type="body"/>
          </p:nvPr>
        </p:nvSpPr>
        <p:spPr>
          <a:xfrm>
            <a:off x="439344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3" name="PlaceHolder 7"/>
          <p:cNvSpPr>
            <a:spLocks noGrp="1"/>
          </p:cNvSpPr>
          <p:nvPr>
            <p:ph type="body"/>
          </p:nvPr>
        </p:nvSpPr>
        <p:spPr>
          <a:xfrm>
            <a:off x="794916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4" name="PlaceHolder 8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9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EF8F71-F5E8-4FBC-854E-13A2885559A7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10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8" name="PlaceHolder 2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293330F-0284-4291-8364-AE707588BF61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4" name="PlaceHolder 3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D39958-4539-4F90-8867-B8D53D2454FA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CE2B961-E1F4-4D7B-9F35-FC173803FBE5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0CABD1A-E7D3-45F9-9BC7-6837179BF017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Centere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628C7F-152B-4F14-AE61-7B6F0067FAB2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3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4" name="PlaceHolder 5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CF8A6C1-D654-4959-9A2D-CBB7A47210E6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7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 Content and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622620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2E9747-DEEE-4258-B1C2-9068E4C913DB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7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8" name="PlaceHolder 5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768BD2-B517-42F5-9F55-F0045E1E8AE1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7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B17E45-BC7D-470B-8372-0C1B0EFB8681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7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9" name="PlaceHolder 4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DAB4467-2CFB-40A7-960A-30EF8D0825CB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5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622620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7" name="PlaceHolder 6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PlaceHolder 7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586A92-5ED4-42D9-8169-096989BFF289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PlaceHolder 8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2" name="PlaceHolder 3"/>
          <p:cNvSpPr>
            <a:spLocks noGrp="1"/>
          </p:cNvSpPr>
          <p:nvPr>
            <p:ph type="body"/>
          </p:nvPr>
        </p:nvSpPr>
        <p:spPr>
          <a:xfrm>
            <a:off x="439344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3" name="PlaceHolder 4"/>
          <p:cNvSpPr>
            <a:spLocks noGrp="1"/>
          </p:cNvSpPr>
          <p:nvPr>
            <p:ph type="body"/>
          </p:nvPr>
        </p:nvSpPr>
        <p:spPr>
          <a:xfrm>
            <a:off x="7949160" y="182556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4" name="PlaceHolder 5"/>
          <p:cNvSpPr>
            <a:spLocks noGrp="1"/>
          </p:cNvSpPr>
          <p:nvPr>
            <p:ph type="body"/>
          </p:nvPr>
        </p:nvSpPr>
        <p:spPr>
          <a:xfrm>
            <a:off x="83808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5" name="PlaceHolder 6"/>
          <p:cNvSpPr>
            <a:spLocks noGrp="1"/>
          </p:cNvSpPr>
          <p:nvPr>
            <p:ph type="body"/>
          </p:nvPr>
        </p:nvSpPr>
        <p:spPr>
          <a:xfrm>
            <a:off x="439344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6" name="PlaceHolder 7"/>
          <p:cNvSpPr>
            <a:spLocks noGrp="1"/>
          </p:cNvSpPr>
          <p:nvPr>
            <p:ph type="body"/>
          </p:nvPr>
        </p:nvSpPr>
        <p:spPr>
          <a:xfrm>
            <a:off x="7949160" y="4098240"/>
            <a:ext cx="338544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7" name="PlaceHolder 8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9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DCE691-84B3-47A4-8BC4-D8F3850347A8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10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1" name="PlaceHolder 2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C39CFC-FEA4-454B-81BB-618D8B51E928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0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7" name="PlaceHolder 3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70AEE03-179C-4F0E-AF94-A0469E2940FB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5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2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3" name="PlaceHolder 4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5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706C632-3F5C-4DAE-B858-382AB96758A6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6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7" name="PlaceHolder 2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8080613-80D1-4E3D-8873-48E2ADDE384B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424248-DD91-4FE5-BC3D-02F7CFD833C2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25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26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27" name="PlaceHolder 5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6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1FE80FC-5AA6-49D5-BC90-149A1632704D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PlaceHolder 7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2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3" name="PlaceHolder 4"/>
          <p:cNvSpPr>
            <a:spLocks noGrp="1"/>
          </p:cNvSpPr>
          <p:nvPr>
            <p:ph type="body"/>
          </p:nvPr>
        </p:nvSpPr>
        <p:spPr>
          <a:xfrm>
            <a:off x="6226200" y="409824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4" name="PlaceHolder 5"/>
          <p:cNvSpPr>
            <a:spLocks noGrp="1"/>
          </p:cNvSpPr>
          <p:nvPr>
            <p:ph type="ftr" idx="6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6"/>
          <p:cNvSpPr>
            <a:spLocks noGrp="1"/>
          </p:cNvSpPr>
          <p:nvPr>
            <p:ph type="sldNum" idx="6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881C48-AAA0-481E-BE0A-91D53652EB83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PlaceHolder 7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9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0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4880" cy="20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1" name="PlaceHolder 5"/>
          <p:cNvSpPr>
            <a:spLocks noGrp="1"/>
          </p:cNvSpPr>
          <p:nvPr>
            <p:ph type="ftr" idx="7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6"/>
          <p:cNvSpPr>
            <a:spLocks noGrp="1"/>
          </p:cNvSpPr>
          <p:nvPr>
            <p:ph type="sldNum" idx="7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29FD49F-9D84-4262-998A-430BAE538505}" type="slidenum">
              <a:rPr lang="en-US" sz="1200" b="0" u="none" strike="noStrike">
                <a:solidFill>
                  <a:srgbClr val="787878"/>
                </a:solidFill>
                <a:effectLst/>
                <a:uFillTx/>
                <a:latin typeface="Aptos"/>
                <a:ea typeface="DejaVu San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PlaceHolder 7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D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3"/>
          <p:cNvSpPr/>
          <p:nvPr/>
        </p:nvSpPr>
        <p:spPr>
          <a:xfrm>
            <a:off x="0" y="5772960"/>
            <a:ext cx="12191400" cy="108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  <a:ea typeface="DejaVu Sans"/>
            </a:endParaRPr>
          </a:p>
        </p:txBody>
      </p:sp>
      <p:pic>
        <p:nvPicPr>
          <p:cNvPr id="151" name="Picture 4"/>
          <p:cNvPicPr/>
          <p:nvPr/>
        </p:nvPicPr>
        <p:blipFill>
          <a:blip r:embed="rId2"/>
          <a:stretch/>
        </p:blipFill>
        <p:spPr>
          <a:xfrm>
            <a:off x="380880" y="6136200"/>
            <a:ext cx="3250800" cy="33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1523880" y="223524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Heart Failure Survival Analysis</a:t>
            </a:r>
            <a:br>
              <a:rPr sz="4000"/>
            </a:br>
            <a:br>
              <a:rPr sz="3200"/>
            </a:br>
            <a:br>
              <a:rPr sz="3200"/>
            </a:br>
            <a:br>
              <a:rPr sz="32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2026 Michigan Data Science Team Project</a:t>
            </a:r>
            <a:br>
              <a:rPr sz="2400"/>
            </a:b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Sina Bonakdar</a:t>
            </a:r>
            <a:br>
              <a:rPr sz="2400"/>
            </a:b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Terry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Zhang</a:t>
            </a:r>
            <a:br>
              <a:rPr sz="2400"/>
            </a:b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Picture 6"/>
          <p:cNvPicPr/>
          <p:nvPr/>
        </p:nvPicPr>
        <p:blipFill>
          <a:blip r:embed="rId3"/>
          <a:stretch/>
        </p:blipFill>
        <p:spPr>
          <a:xfrm>
            <a:off x="380880" y="6136200"/>
            <a:ext cx="3250800" cy="33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TextBox 8"/>
          <p:cNvSpPr/>
          <p:nvPr/>
        </p:nvSpPr>
        <p:spPr>
          <a:xfrm>
            <a:off x="0" y="155880"/>
            <a:ext cx="1219140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Heart Failure Survival Analysis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9"/>
          <p:cNvSpPr/>
          <p:nvPr/>
        </p:nvSpPr>
        <p:spPr>
          <a:xfrm>
            <a:off x="228600" y="894960"/>
            <a:ext cx="8648280" cy="3930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is Heart Failure?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the heart cannot pump sufficient blood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Not all heart failures lead to death.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Two types of heart failure: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Reduced ejection fraction (&lt;40% ejection fraction), indicating ineffective heart contraction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Preserved ejection fraction (left ventricle is stiff and cannot relax and fill properly)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Goal: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a) Use machine learning and deep learning classifiers to predict survival event in heart failure patients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b) Identify the most critical parameters affecting survival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Wingdings"/>
                <a:ea typeface="DejaVu Sans"/>
              </a:rPr>
              <a:t>=&gt;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provide insights to physicians to tailor treatments more effectively and reduce mortality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6" name="Straight Arrow Connector 2"/>
          <p:cNvCxnSpPr/>
          <p:nvPr/>
        </p:nvCxnSpPr>
        <p:spPr>
          <a:xfrm flipH="1">
            <a:off x="8274600" y="2761560"/>
            <a:ext cx="602640" cy="720"/>
          </a:xfrm>
          <a:prstGeom prst="straightConnector1">
            <a:avLst/>
          </a:prstGeom>
          <a:ln w="0">
            <a:solidFill>
              <a:srgbClr val="FF0000"/>
            </a:solidFill>
            <a:tailEnd type="triangle" w="med" len="med"/>
          </a:ln>
        </p:spPr>
      </p:cxnSp>
      <p:sp>
        <p:nvSpPr>
          <p:cNvPr id="157" name="TextBox 3"/>
          <p:cNvSpPr/>
          <p:nvPr/>
        </p:nvSpPr>
        <p:spPr>
          <a:xfrm>
            <a:off x="8877240" y="2579760"/>
            <a:ext cx="11700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0000"/>
                </a:solidFill>
                <a:effectLst/>
                <a:uFillTx/>
                <a:latin typeface="Times New Roman"/>
                <a:ea typeface="DejaVu Sans"/>
              </a:rPr>
              <a:t>Our focus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" name="Picture 4"/>
          <p:cNvPicPr/>
          <p:nvPr/>
        </p:nvPicPr>
        <p:blipFill>
          <a:blip r:embed="rId4"/>
          <a:stretch/>
        </p:blipFill>
        <p:spPr>
          <a:xfrm>
            <a:off x="8750520" y="3539520"/>
            <a:ext cx="3322440" cy="33224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Box 4"/>
          <p:cNvSpPr/>
          <p:nvPr/>
        </p:nvSpPr>
        <p:spPr>
          <a:xfrm>
            <a:off x="0" y="155880"/>
            <a:ext cx="12191400" cy="521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Feature Explanations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Picture 5" descr="A screenshot of a medical report&#10;&#10;AI-generated content may be incorrect."/>
          <p:cNvPicPr/>
          <p:nvPr/>
        </p:nvPicPr>
        <p:blipFill>
          <a:blip r:embed="rId2"/>
          <a:stretch/>
        </p:blipFill>
        <p:spPr>
          <a:xfrm>
            <a:off x="2514600" y="685800"/>
            <a:ext cx="6629400" cy="439776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61" name="Table 1"/>
          <p:cNvGraphicFramePr/>
          <p:nvPr/>
        </p:nvGraphicFramePr>
        <p:xfrm>
          <a:off x="1771200" y="5553720"/>
          <a:ext cx="8127360" cy="741600"/>
        </p:xfrm>
        <a:graphic>
          <a:graphicData uri="http://schemas.openxmlformats.org/drawingml/2006/table">
            <a:tbl>
              <a:tblPr/>
              <a:tblGrid>
                <a:gridCol w="4063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3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Survived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Died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203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96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Picture 3"/>
          <p:cNvPicPr/>
          <p:nvPr/>
        </p:nvPicPr>
        <p:blipFill>
          <a:blip r:embed="rId2"/>
          <a:stretch/>
        </p:blipFill>
        <p:spPr>
          <a:xfrm>
            <a:off x="380880" y="6136200"/>
            <a:ext cx="3250800" cy="33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TextBox 4"/>
          <p:cNvSpPr/>
          <p:nvPr/>
        </p:nvSpPr>
        <p:spPr>
          <a:xfrm>
            <a:off x="360" y="129240"/>
            <a:ext cx="12191400" cy="51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Methods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5"/>
          <p:cNvSpPr/>
          <p:nvPr/>
        </p:nvSpPr>
        <p:spPr>
          <a:xfrm>
            <a:off x="1535400" y="824040"/>
            <a:ext cx="8980200" cy="4205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Python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Feature selection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Data Visualization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Statistical Analysis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Unsupervised learning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Supervised learning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Use different ML evaluation metrics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Use ML Interpretation tools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Picture 3"/>
          <p:cNvPicPr/>
          <p:nvPr/>
        </p:nvPicPr>
        <p:blipFill>
          <a:blip r:embed="rId2"/>
          <a:stretch/>
        </p:blipFill>
        <p:spPr>
          <a:xfrm>
            <a:off x="380880" y="6136200"/>
            <a:ext cx="3250800" cy="33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TextBox 4"/>
          <p:cNvSpPr/>
          <p:nvPr/>
        </p:nvSpPr>
        <p:spPr>
          <a:xfrm>
            <a:off x="0" y="162720"/>
            <a:ext cx="12191400" cy="521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Accomplishments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5"/>
          <p:cNvSpPr/>
          <p:nvPr/>
        </p:nvSpPr>
        <p:spPr>
          <a:xfrm>
            <a:off x="380880" y="595080"/>
            <a:ext cx="9788040" cy="4845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Data Visualization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Statistical Analysis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Unsupervised Learning, Dimensional Reduction, and Confusion Matrix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Design Machine Learning Algorithms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Evaluation Metrics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Design Multi-layer Perceptron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AI Interpretation Tools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4"/>
          <p:cNvSpPr/>
          <p:nvPr/>
        </p:nvSpPr>
        <p:spPr>
          <a:xfrm>
            <a:off x="0" y="162720"/>
            <a:ext cx="12191400" cy="517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Data Visualization &amp; Statistical Analysis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4"/>
          <p:cNvSpPr/>
          <p:nvPr/>
        </p:nvSpPr>
        <p:spPr>
          <a:xfrm>
            <a:off x="478800" y="1153800"/>
            <a:ext cx="1460160" cy="92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0" name="Picture 5"/>
          <p:cNvPicPr/>
          <p:nvPr/>
        </p:nvPicPr>
        <p:blipFill>
          <a:blip r:embed="rId2"/>
          <a:stretch/>
        </p:blipFill>
        <p:spPr>
          <a:xfrm>
            <a:off x="2161747" y="791640"/>
            <a:ext cx="3047866" cy="2323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1" name="Picture 6"/>
          <p:cNvPicPr/>
          <p:nvPr/>
        </p:nvPicPr>
        <p:blipFill>
          <a:blip r:embed="rId3"/>
          <a:stretch/>
        </p:blipFill>
        <p:spPr>
          <a:xfrm>
            <a:off x="1463040" y="3238200"/>
            <a:ext cx="4251960" cy="328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2" name="Picture 10"/>
          <p:cNvPicPr/>
          <p:nvPr/>
        </p:nvPicPr>
        <p:blipFill>
          <a:blip r:embed="rId4"/>
          <a:stretch/>
        </p:blipFill>
        <p:spPr>
          <a:xfrm>
            <a:off x="62640" y="6523560"/>
            <a:ext cx="3250800" cy="33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3" name="Picture 1"/>
          <p:cNvPicPr/>
          <p:nvPr/>
        </p:nvPicPr>
        <p:blipFill>
          <a:blip r:embed="rId5"/>
          <a:stretch/>
        </p:blipFill>
        <p:spPr>
          <a:xfrm>
            <a:off x="6788075" y="685800"/>
            <a:ext cx="3346285" cy="3412864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4" name="Picture 2"/>
          <p:cNvPicPr/>
          <p:nvPr/>
        </p:nvPicPr>
        <p:blipFill>
          <a:blip r:embed="rId6"/>
          <a:stretch/>
        </p:blipFill>
        <p:spPr>
          <a:xfrm>
            <a:off x="6517101" y="4098664"/>
            <a:ext cx="3617259" cy="2758976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Picture 3"/>
          <p:cNvPicPr/>
          <p:nvPr/>
        </p:nvPicPr>
        <p:blipFill>
          <a:blip r:embed="rId2"/>
          <a:stretch/>
        </p:blipFill>
        <p:spPr>
          <a:xfrm>
            <a:off x="380880" y="6136200"/>
            <a:ext cx="3250800" cy="33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TextBox 4"/>
          <p:cNvSpPr/>
          <p:nvPr/>
        </p:nvSpPr>
        <p:spPr>
          <a:xfrm>
            <a:off x="0" y="126360"/>
            <a:ext cx="12191400" cy="521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Data Explanation and Preprocessing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5"/>
          <p:cNvSpPr/>
          <p:nvPr/>
        </p:nvSpPr>
        <p:spPr>
          <a:xfrm>
            <a:off x="380880" y="1775880"/>
            <a:ext cx="8980200" cy="119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How to work withNumPyand Pandasdataframe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Data Normalization (zscore)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8" name="Picture 6"/>
          <p:cNvPicPr/>
          <p:nvPr/>
        </p:nvPicPr>
        <p:blipFill>
          <a:blip r:embed="rId3"/>
          <a:stretch/>
        </p:blipFill>
        <p:spPr>
          <a:xfrm>
            <a:off x="3754440" y="3335760"/>
            <a:ext cx="7772040" cy="31345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Box 4"/>
          <p:cNvSpPr/>
          <p:nvPr/>
        </p:nvSpPr>
        <p:spPr>
          <a:xfrm>
            <a:off x="360" y="126360"/>
            <a:ext cx="12191400" cy="517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Statistical Analysis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4"/>
          <p:cNvSpPr/>
          <p:nvPr/>
        </p:nvSpPr>
        <p:spPr>
          <a:xfrm>
            <a:off x="1958760" y="1427040"/>
            <a:ext cx="184176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Two-sample t-test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1" name="Picture 6" descr="A screenshot of a table&#10;&#10;AI-generated content may be incorrect."/>
          <p:cNvPicPr/>
          <p:nvPr/>
        </p:nvPicPr>
        <p:blipFill>
          <a:blip r:embed="rId2"/>
          <a:stretch/>
        </p:blipFill>
        <p:spPr>
          <a:xfrm>
            <a:off x="681480" y="1796400"/>
            <a:ext cx="4590000" cy="436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TextBox 7"/>
          <p:cNvSpPr/>
          <p:nvPr/>
        </p:nvSpPr>
        <p:spPr>
          <a:xfrm>
            <a:off x="7107840" y="1288440"/>
            <a:ext cx="3213720" cy="64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Mann-Whitney U test and Multiple Hypothesis Test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3" name="Picture 9" descr="A table of numbers and letters&#10;&#10;AI-generated content may be incorrect."/>
          <p:cNvPicPr/>
          <p:nvPr/>
        </p:nvPicPr>
        <p:blipFill>
          <a:blip r:embed="rId3"/>
          <a:stretch/>
        </p:blipFill>
        <p:spPr>
          <a:xfrm>
            <a:off x="5380560" y="2076120"/>
            <a:ext cx="6668640" cy="40010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Box 4"/>
          <p:cNvSpPr/>
          <p:nvPr/>
        </p:nvSpPr>
        <p:spPr>
          <a:xfrm>
            <a:off x="360" y="126360"/>
            <a:ext cx="12191400" cy="517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Unsupervised Learning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Picture 6"/>
          <p:cNvPicPr/>
          <p:nvPr/>
        </p:nvPicPr>
        <p:blipFill>
          <a:blip r:embed="rId2"/>
          <a:stretch/>
        </p:blipFill>
        <p:spPr>
          <a:xfrm>
            <a:off x="1986480" y="1197720"/>
            <a:ext cx="7772040" cy="553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TextBox 7"/>
          <p:cNvSpPr/>
          <p:nvPr/>
        </p:nvSpPr>
        <p:spPr>
          <a:xfrm>
            <a:off x="4477680" y="738360"/>
            <a:ext cx="351000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Principal Component Analysis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7" name="Picture 8"/>
          <p:cNvPicPr/>
          <p:nvPr/>
        </p:nvPicPr>
        <p:blipFill>
          <a:blip r:embed="rId3"/>
          <a:stretch/>
        </p:blipFill>
        <p:spPr>
          <a:xfrm>
            <a:off x="380880" y="6136200"/>
            <a:ext cx="3250800" cy="3340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Picture 4"/>
          <p:cNvPicPr/>
          <p:nvPr/>
        </p:nvPicPr>
        <p:blipFill>
          <a:blip r:embed="rId2"/>
          <a:stretch/>
        </p:blipFill>
        <p:spPr>
          <a:xfrm>
            <a:off x="380880" y="6136200"/>
            <a:ext cx="3250800" cy="33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" name="TextBox 5"/>
          <p:cNvSpPr/>
          <p:nvPr/>
        </p:nvSpPr>
        <p:spPr>
          <a:xfrm>
            <a:off x="224280" y="387360"/>
            <a:ext cx="236448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K-means Clustering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0" name="Picture 6"/>
          <p:cNvPicPr/>
          <p:nvPr/>
        </p:nvPicPr>
        <p:blipFill>
          <a:blip r:embed="rId3"/>
          <a:stretch/>
        </p:blipFill>
        <p:spPr>
          <a:xfrm>
            <a:off x="0" y="947520"/>
            <a:ext cx="3625920" cy="30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1" name="Picture 7"/>
          <p:cNvPicPr/>
          <p:nvPr/>
        </p:nvPicPr>
        <p:blipFill>
          <a:blip r:embed="rId4"/>
          <a:stretch/>
        </p:blipFill>
        <p:spPr>
          <a:xfrm>
            <a:off x="5078880" y="572040"/>
            <a:ext cx="4482720" cy="339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TextBox 8"/>
          <p:cNvSpPr/>
          <p:nvPr/>
        </p:nvSpPr>
        <p:spPr>
          <a:xfrm>
            <a:off x="5478840" y="252720"/>
            <a:ext cx="377496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Condusion Matrix of K-means clusters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9"/>
          <p:cNvSpPr/>
          <p:nvPr/>
        </p:nvSpPr>
        <p:spPr>
          <a:xfrm>
            <a:off x="5231160" y="3862800"/>
            <a:ext cx="365328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TextBox 3"/>
          <p:cNvSpPr/>
          <p:nvPr/>
        </p:nvSpPr>
        <p:spPr>
          <a:xfrm>
            <a:off x="4301640" y="549720"/>
            <a:ext cx="392796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K means &amp; Hierarchical Clustering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5" name="Picture 4"/>
          <p:cNvPicPr/>
          <p:nvPr/>
        </p:nvPicPr>
        <p:blipFill>
          <a:blip r:embed="rId2"/>
          <a:stretch/>
        </p:blipFill>
        <p:spPr>
          <a:xfrm>
            <a:off x="5486400" y="2286000"/>
            <a:ext cx="6172200" cy="261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6" name="Picture 6"/>
          <p:cNvPicPr/>
          <p:nvPr/>
        </p:nvPicPr>
        <p:blipFill>
          <a:blip r:embed="rId3"/>
          <a:stretch/>
        </p:blipFill>
        <p:spPr>
          <a:xfrm>
            <a:off x="8665920" y="6327720"/>
            <a:ext cx="3250800" cy="33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7" name="Picture 11"/>
          <p:cNvPicPr/>
          <p:nvPr/>
        </p:nvPicPr>
        <p:blipFill>
          <a:blip r:embed="rId4"/>
          <a:stretch/>
        </p:blipFill>
        <p:spPr>
          <a:xfrm>
            <a:off x="1143000" y="2286000"/>
            <a:ext cx="3625920" cy="3099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8" name="Picture 3"/>
          <p:cNvPicPr/>
          <p:nvPr/>
        </p:nvPicPr>
        <p:blipFill>
          <a:blip r:embed="rId2"/>
          <a:stretch/>
        </p:blipFill>
        <p:spPr>
          <a:xfrm>
            <a:off x="380880" y="6136200"/>
            <a:ext cx="3250800" cy="33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TextBox 4"/>
          <p:cNvSpPr/>
          <p:nvPr/>
        </p:nvSpPr>
        <p:spPr>
          <a:xfrm>
            <a:off x="360" y="126360"/>
            <a:ext cx="12191400" cy="517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Design ML Classifiers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5"/>
          <p:cNvSpPr/>
          <p:nvPr/>
        </p:nvSpPr>
        <p:spPr>
          <a:xfrm>
            <a:off x="346320" y="955800"/>
            <a:ext cx="2616120" cy="193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Steps: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Create train-test split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Data Normalization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Model Training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Prediction on test set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Evaluation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1" name="Table 6"/>
          <p:cNvGraphicFramePr/>
          <p:nvPr/>
        </p:nvGraphicFramePr>
        <p:xfrm>
          <a:off x="3372120" y="1058400"/>
          <a:ext cx="8127720" cy="3674160"/>
        </p:xfrm>
        <a:graphic>
          <a:graphicData uri="http://schemas.openxmlformats.org/drawingml/2006/table">
            <a:tbl>
              <a:tblPr/>
              <a:tblGrid>
                <a:gridCol w="1625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5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5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5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Model Name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Accuracy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Precision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Recall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F1-Score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Dummy Model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0.68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K-Nearest Neighbors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0.67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0.47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0.28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0.35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Linear SVM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0.55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0.41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0.47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Kernel SVM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0.73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0.45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0.52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Random Forest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0.72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0.58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0.52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0.55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Logistic Regression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0.71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0.58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0.38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0.46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Box 4"/>
          <p:cNvSpPr/>
          <p:nvPr/>
        </p:nvSpPr>
        <p:spPr>
          <a:xfrm>
            <a:off x="360" y="126360"/>
            <a:ext cx="12191400" cy="521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Feature Selection Methods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Box 5"/>
          <p:cNvSpPr/>
          <p:nvPr/>
        </p:nvSpPr>
        <p:spPr>
          <a:xfrm>
            <a:off x="457200" y="5020560"/>
            <a:ext cx="4624200" cy="63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Random Forest model performance reaches 80% accuracy with top 2 features!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4" name="Picture 7"/>
          <p:cNvPicPr/>
          <p:nvPr/>
        </p:nvPicPr>
        <p:blipFill>
          <a:blip r:embed="rId2"/>
          <a:stretch/>
        </p:blipFill>
        <p:spPr>
          <a:xfrm>
            <a:off x="2514960" y="740160"/>
            <a:ext cx="6629040" cy="360324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05" name="Table 204"/>
          <p:cNvGraphicFramePr/>
          <p:nvPr/>
        </p:nvGraphicFramePr>
        <p:xfrm>
          <a:off x="5717880" y="4618080"/>
          <a:ext cx="3914280" cy="2103120"/>
        </p:xfrm>
        <a:graphic>
          <a:graphicData uri="http://schemas.openxmlformats.org/drawingml/2006/table">
            <a:tbl>
              <a:tblPr/>
              <a:tblGrid>
                <a:gridCol w="195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6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Ejection Fraction, </a:t>
                      </a:r>
                    </a:p>
                    <a:p>
                      <a:pPr algn="ctr"/>
                      <a:r>
                        <a:rPr lang="en-US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Serum Creatinine</a:t>
                      </a:r>
                    </a:p>
                  </a:txBody>
                  <a:tcPr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8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Menlo"/>
                          <a:ea typeface="DejaVu Sans"/>
                        </a:rPr>
                        <a:t>Accuracy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0.79</a:t>
                      </a:r>
                    </a:p>
                  </a:txBody>
                  <a:tcPr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7680">
                <a:tc>
                  <a:txBody>
                    <a:bodyPr/>
                    <a:lstStyle/>
                    <a:p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Menlo"/>
                          <a:ea typeface="DejaVu Sans"/>
                        </a:rPr>
                        <a:t>Precision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0.69</a:t>
                      </a:r>
                    </a:p>
                  </a:txBody>
                  <a:tcPr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7680">
                <a:tc>
                  <a:txBody>
                    <a:bodyPr/>
                    <a:lstStyle/>
                    <a:p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Menlo"/>
                          <a:ea typeface="DejaVu Sans"/>
                        </a:rPr>
                        <a:t>Recall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0.62</a:t>
                      </a:r>
                    </a:p>
                  </a:txBody>
                  <a:tcPr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7680">
                <a:tc>
                  <a:txBody>
                    <a:bodyPr/>
                    <a:lstStyle/>
                    <a:p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Menlo"/>
                          <a:ea typeface="DejaVu Sans"/>
                        </a:rPr>
                        <a:t>F1-Score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</a:t>
                      </a:r>
                    </a:p>
                  </a:txBody>
                  <a:tcPr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extBox 4"/>
          <p:cNvSpPr/>
          <p:nvPr/>
        </p:nvSpPr>
        <p:spPr>
          <a:xfrm>
            <a:off x="360" y="126360"/>
            <a:ext cx="12191400" cy="521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Deep Learning: Multi-layer Perceptron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7" name="Picture 4"/>
          <p:cNvPicPr/>
          <p:nvPr/>
        </p:nvPicPr>
        <p:blipFill>
          <a:blip r:embed="rId2"/>
          <a:stretch/>
        </p:blipFill>
        <p:spPr>
          <a:xfrm>
            <a:off x="1371600" y="831960"/>
            <a:ext cx="9448200" cy="44352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Picture 6"/>
          <p:cNvPicPr/>
          <p:nvPr/>
        </p:nvPicPr>
        <p:blipFill>
          <a:blip r:embed="rId2"/>
          <a:stretch/>
        </p:blipFill>
        <p:spPr>
          <a:xfrm>
            <a:off x="2682000" y="767160"/>
            <a:ext cx="7170120" cy="596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TextBox 4"/>
          <p:cNvSpPr/>
          <p:nvPr/>
        </p:nvSpPr>
        <p:spPr>
          <a:xfrm>
            <a:off x="360" y="126360"/>
            <a:ext cx="12191400" cy="521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AI Interpretation Tools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4"/>
          <p:cNvSpPr/>
          <p:nvPr/>
        </p:nvSpPr>
        <p:spPr>
          <a:xfrm>
            <a:off x="6413760" y="4322880"/>
            <a:ext cx="4187160" cy="521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PLSDA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" name="Picture 3"/>
          <p:cNvPicPr/>
          <p:nvPr/>
        </p:nvPicPr>
        <p:blipFill>
          <a:blip r:embed="rId2"/>
          <a:stretch/>
        </p:blipFill>
        <p:spPr>
          <a:xfrm>
            <a:off x="1879200" y="1441080"/>
            <a:ext cx="7772040" cy="496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2" name="TextBox 4"/>
          <p:cNvSpPr/>
          <p:nvPr/>
        </p:nvSpPr>
        <p:spPr>
          <a:xfrm>
            <a:off x="180360" y="283320"/>
            <a:ext cx="4187160" cy="521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SHAP on Random Forest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4"/>
          <p:cNvSpPr/>
          <p:nvPr/>
        </p:nvSpPr>
        <p:spPr>
          <a:xfrm>
            <a:off x="4571280" y="805320"/>
            <a:ext cx="2162160" cy="521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Survived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4"/>
          <p:cNvSpPr/>
          <p:nvPr/>
        </p:nvSpPr>
        <p:spPr>
          <a:xfrm>
            <a:off x="6095880" y="805320"/>
            <a:ext cx="2162160" cy="521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Died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5" name="Straight Arrow Connector 8"/>
          <p:cNvCxnSpPr/>
          <p:nvPr/>
        </p:nvCxnSpPr>
        <p:spPr>
          <a:xfrm>
            <a:off x="6348240" y="1441080"/>
            <a:ext cx="1211760" cy="360"/>
          </a:xfrm>
          <a:prstGeom prst="straightConnector1">
            <a:avLst/>
          </a:prstGeom>
          <a:ln w="38100">
            <a:solidFill>
              <a:srgbClr val="000000"/>
            </a:solidFill>
            <a:tailEnd type="triangle" w="med" len="med"/>
          </a:ln>
        </p:spPr>
      </p:cxnSp>
      <p:cxnSp>
        <p:nvCxnSpPr>
          <p:cNvPr id="216" name="Straight Arrow Connector 9"/>
          <p:cNvCxnSpPr/>
          <p:nvPr/>
        </p:nvCxnSpPr>
        <p:spPr>
          <a:xfrm flipH="1">
            <a:off x="5046480" y="1441080"/>
            <a:ext cx="1211760" cy="360"/>
          </a:xfrm>
          <a:prstGeom prst="straightConnector1">
            <a:avLst/>
          </a:prstGeom>
          <a:ln w="38100">
            <a:solidFill>
              <a:srgbClr val="000000"/>
            </a:solidFill>
            <a:tailEnd type="triangle" w="med" len="med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extBox 4"/>
          <p:cNvSpPr/>
          <p:nvPr/>
        </p:nvSpPr>
        <p:spPr>
          <a:xfrm>
            <a:off x="180360" y="283320"/>
            <a:ext cx="4187160" cy="521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SHAP on MLP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8" name="Picture 4"/>
          <p:cNvPicPr/>
          <p:nvPr/>
        </p:nvPicPr>
        <p:blipFill>
          <a:blip r:embed="rId2"/>
          <a:stretch/>
        </p:blipFill>
        <p:spPr>
          <a:xfrm>
            <a:off x="2090880" y="1263960"/>
            <a:ext cx="7772040" cy="496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9" name="TextBox 4"/>
          <p:cNvSpPr/>
          <p:nvPr/>
        </p:nvSpPr>
        <p:spPr>
          <a:xfrm>
            <a:off x="4764240" y="634320"/>
            <a:ext cx="2162160" cy="521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Survived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Box 4"/>
          <p:cNvSpPr/>
          <p:nvPr/>
        </p:nvSpPr>
        <p:spPr>
          <a:xfrm>
            <a:off x="6289200" y="634320"/>
            <a:ext cx="2162160" cy="521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Died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1" name="Straight Arrow Connector 7"/>
          <p:cNvCxnSpPr/>
          <p:nvPr/>
        </p:nvCxnSpPr>
        <p:spPr>
          <a:xfrm>
            <a:off x="6541200" y="1269720"/>
            <a:ext cx="1212120" cy="360"/>
          </a:xfrm>
          <a:prstGeom prst="straightConnector1">
            <a:avLst/>
          </a:prstGeom>
          <a:ln w="38100">
            <a:solidFill>
              <a:srgbClr val="000000"/>
            </a:solidFill>
            <a:tailEnd type="triangle" w="med" len="med"/>
          </a:ln>
        </p:spPr>
      </p:cxnSp>
      <p:cxnSp>
        <p:nvCxnSpPr>
          <p:cNvPr id="222" name="Straight Arrow Connector 8"/>
          <p:cNvCxnSpPr/>
          <p:nvPr/>
        </p:nvCxnSpPr>
        <p:spPr>
          <a:xfrm flipH="1">
            <a:off x="5239440" y="1269720"/>
            <a:ext cx="1212120" cy="360"/>
          </a:xfrm>
          <a:prstGeom prst="straightConnector1">
            <a:avLst/>
          </a:prstGeom>
          <a:ln w="38100">
            <a:solidFill>
              <a:srgbClr val="000000"/>
            </a:solidFill>
            <a:tailEnd type="triangle" w="med" len="med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spAutoFit/>
          </a:bodyPr>
          <a:lstStyle/>
          <a:p>
            <a:pPr indent="0" algn="ctr">
              <a:buNone/>
            </a:pPr>
            <a:r>
              <a:rPr lang="en-US" sz="3600" b="1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Conclusion</a:t>
            </a: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From multiple analysis two features identified as the most important predictors for survival event in heart failure patients </a:t>
            </a: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(Ejection Fraction, Serum Creatinine).</a:t>
            </a: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Smoking and gender identity contribute less to the event.</a:t>
            </a: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A simple model (Random Forest) performed better than complex Deep Learning models, due to the limited size of samples.</a:t>
            </a:r>
          </a:p>
          <a:p>
            <a:pPr marL="432000"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TextBox 224"/>
          <p:cNvSpPr txBox="1"/>
          <p:nvPr/>
        </p:nvSpPr>
        <p:spPr>
          <a:xfrm>
            <a:off x="228600" y="1509120"/>
            <a:ext cx="10515600" cy="306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Chicco, D., Jurman, G. Machine learning can predict survival of patients with heart failure from serum creatinine and ejection fraction alone. BMC Med Inform Decis Mak 20, 16 (2020). https://doi.org/10.1186/s12911-020-1023-5</a:t>
            </a:r>
          </a:p>
          <a:p>
            <a:pPr marL="432000" indent="-3240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4327263" y="366120"/>
            <a:ext cx="10515600" cy="306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1080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</a:pPr>
            <a:r>
              <a:rPr lang="en-US" sz="3600" b="1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References</a:t>
            </a:r>
            <a:endParaRPr lang="en-US" sz="3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227" name="Graphic 22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5193000" y="2971800"/>
            <a:ext cx="979200" cy="979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8" name="Picture 227"/>
          <p:cNvPicPr/>
          <p:nvPr/>
        </p:nvPicPr>
        <p:blipFill>
          <a:blip r:embed="rId4"/>
          <a:stretch/>
        </p:blipFill>
        <p:spPr>
          <a:xfrm>
            <a:off x="4800600" y="4296240"/>
            <a:ext cx="1653120" cy="1647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" name="TextBox 228"/>
          <p:cNvSpPr txBox="1"/>
          <p:nvPr/>
        </p:nvSpPr>
        <p:spPr>
          <a:xfrm>
            <a:off x="1828800" y="6282720"/>
            <a:ext cx="8260560" cy="346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MichiganDataScienceTeam/W26-MDST-Project_Heart-Failure-Survival-Analysis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4134</TotalTime>
  <Words>482</Words>
  <Application>Microsoft Macintosh PowerPoint</Application>
  <PresentationFormat>Widescreen</PresentationFormat>
  <Paragraphs>137</Paragraphs>
  <Slides>19</Slides>
  <Notes>1</Notes>
  <HiddenSlides>3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Aptos</vt:lpstr>
      <vt:lpstr>Arial</vt:lpstr>
      <vt:lpstr>Menlo</vt:lpstr>
      <vt:lpstr>Symbol</vt:lpstr>
      <vt:lpstr>Times New Roman</vt:lpstr>
      <vt:lpstr>Wingdings</vt:lpstr>
      <vt:lpstr>Office Theme</vt:lpstr>
      <vt:lpstr>Office Theme</vt:lpstr>
      <vt:lpstr>Heart Failure Survival Analysis    2026 Michigan Data Science Team Project  Sina Bonakdar Terry Zhang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Conclusion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Thomas, Jennifer</dc:creator>
  <dc:description/>
  <cp:lastModifiedBy>Bonakdar, Sina</cp:lastModifiedBy>
  <cp:revision>83</cp:revision>
  <dcterms:created xsi:type="dcterms:W3CDTF">2024-06-04T18:45:39Z</dcterms:created>
  <dcterms:modified xsi:type="dcterms:W3CDTF">2026-04-13T14:59:17Z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</vt:i4>
  </property>
  <property fmtid="{D5CDD505-2E9C-101B-9397-08002B2CF9AE}" pid="3" name="PresentationFormat">
    <vt:lpwstr>Widescreen</vt:lpwstr>
  </property>
  <property fmtid="{D5CDD505-2E9C-101B-9397-08002B2CF9AE}" pid="4" name="Slides">
    <vt:i4>19</vt:i4>
  </property>
</Properties>
</file>