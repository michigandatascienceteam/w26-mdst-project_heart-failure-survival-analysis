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22"/>
  </p:notesMasterIdLst>
  <p:sldIdLst>
    <p:sldId id="256" r:id="rId3"/>
    <p:sldId id="259" r:id="rId4"/>
    <p:sldId id="260" r:id="rId5"/>
    <p:sldId id="267" r:id="rId6"/>
    <p:sldId id="261" r:id="rId7"/>
    <p:sldId id="264" r:id="rId8"/>
    <p:sldId id="265" r:id="rId9"/>
    <p:sldId id="266" r:id="rId10"/>
    <p:sldId id="268" r:id="rId11"/>
    <p:sldId id="269" r:id="rId12"/>
    <p:sldId id="270" r:id="rId13"/>
    <p:sldId id="271" r:id="rId14"/>
    <p:sldId id="272" r:id="rId15"/>
    <p:sldId id="273" r:id="rId16"/>
    <p:sldId id="278" r:id="rId17"/>
    <p:sldId id="274" r:id="rId18"/>
    <p:sldId id="275" r:id="rId19"/>
    <p:sldId id="276" r:id="rId20"/>
    <p:sldId id="27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32"/>
    <p:restoredTop sz="94830"/>
  </p:normalViewPr>
  <p:slideViewPr>
    <p:cSldViewPr snapToGrid="0">
      <p:cViewPr varScale="1">
        <p:scale>
          <a:sx n="99" d="100"/>
          <a:sy n="99" d="100"/>
        </p:scale>
        <p:origin x="200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Click to move the slide</a:t>
            </a: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8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85" name="PlaceHolder 4"/>
          <p:cNvSpPr>
            <a:spLocks noGrp="1"/>
          </p:cNvSpPr>
          <p:nvPr>
            <p:ph type="dt" idx="7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86" name="PlaceHolder 5"/>
          <p:cNvSpPr>
            <a:spLocks noGrp="1"/>
          </p:cNvSpPr>
          <p:nvPr>
            <p:ph type="ftr" idx="8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87" name="PlaceHolder 6"/>
          <p:cNvSpPr>
            <a:spLocks noGrp="1"/>
          </p:cNvSpPr>
          <p:nvPr>
            <p:ph type="sldNum" idx="9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E66A602-0576-4A67-ACE9-68A0672A8B06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Ejection fraction: is the percentage of blood that heart pumps out. </a:t>
            </a:r>
          </a:p>
          <a:p>
            <a:pPr marL="216000" indent="0">
              <a:lnSpc>
                <a:spcPct val="100000"/>
              </a:lnSpc>
              <a:buNone/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Low oxygen blood from body </a:t>
            </a:r>
            <a:r>
              <a:rPr lang="en-US" sz="2000" b="0" strike="noStrike" spc="-1">
                <a:solidFill>
                  <a:srgbClr val="000000"/>
                </a:solidFill>
                <a:latin typeface="Wingdings"/>
              </a:rPr>
              <a:t></a:t>
            </a:r>
            <a:r>
              <a:rPr lang="en-US" sz="2000" b="0" strike="noStrike" spc="-1">
                <a:solidFill>
                  <a:srgbClr val="000000"/>
                </a:solidFill>
                <a:latin typeface="Times New Roman"/>
              </a:rPr>
              <a:t> right atrium </a:t>
            </a:r>
            <a:r>
              <a:rPr lang="en-US" sz="2000" b="0" strike="noStrike" spc="-1">
                <a:solidFill>
                  <a:srgbClr val="000000"/>
                </a:solidFill>
                <a:latin typeface="Wingdings"/>
              </a:rPr>
              <a:t></a:t>
            </a:r>
            <a:r>
              <a:rPr lang="en-US" sz="2000" b="0" strike="noStrike" spc="-1">
                <a:solidFill>
                  <a:srgbClr val="000000"/>
                </a:solidFill>
                <a:latin typeface="Times New Roman"/>
              </a:rPr>
              <a:t> right ventricle </a:t>
            </a:r>
            <a:r>
              <a:rPr lang="en-US" sz="2000" b="0" strike="noStrike" spc="-1">
                <a:solidFill>
                  <a:srgbClr val="000000"/>
                </a:solidFill>
                <a:latin typeface="Wingdings"/>
              </a:rPr>
              <a:t></a:t>
            </a:r>
            <a:r>
              <a:rPr lang="en-US" sz="2000" b="0" strike="noStrike" spc="-1">
                <a:solidFill>
                  <a:srgbClr val="000000"/>
                </a:solidFill>
                <a:latin typeface="Times New Roman"/>
              </a:rPr>
              <a:t> lung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Times New Roman"/>
              </a:rPr>
              <a:t>High oxygen blood from lung </a:t>
            </a:r>
            <a:r>
              <a:rPr lang="en-US" sz="2000" b="0" strike="noStrike" spc="-1">
                <a:solidFill>
                  <a:srgbClr val="000000"/>
                </a:solidFill>
                <a:latin typeface="Wingdings"/>
              </a:rPr>
              <a:t></a:t>
            </a:r>
            <a:r>
              <a:rPr lang="en-US" sz="2000" b="0" strike="noStrike" spc="-1">
                <a:solidFill>
                  <a:srgbClr val="000000"/>
                </a:solidFill>
                <a:latin typeface="Times New Roman"/>
              </a:rPr>
              <a:t> left atrium </a:t>
            </a:r>
            <a:r>
              <a:rPr lang="en-US" sz="2000" b="0" strike="noStrike" spc="-1">
                <a:solidFill>
                  <a:srgbClr val="000000"/>
                </a:solidFill>
                <a:latin typeface="Wingdings"/>
              </a:rPr>
              <a:t></a:t>
            </a:r>
            <a:r>
              <a:rPr lang="en-US" sz="2000" b="0" strike="noStrike" spc="-1">
                <a:solidFill>
                  <a:srgbClr val="000000"/>
                </a:solidFill>
                <a:latin typeface="Times New Roman"/>
              </a:rPr>
              <a:t> left ventricle </a:t>
            </a:r>
            <a:r>
              <a:rPr lang="en-US" sz="2000" b="0" strike="noStrike" spc="-1">
                <a:solidFill>
                  <a:srgbClr val="000000"/>
                </a:solidFill>
                <a:latin typeface="Wingdings"/>
              </a:rPr>
              <a:t></a:t>
            </a:r>
            <a:r>
              <a:rPr lang="en-US" sz="2000" b="0" strike="noStrike" spc="-1">
                <a:solidFill>
                  <a:srgbClr val="000000"/>
                </a:solidFill>
                <a:latin typeface="Times New Roman"/>
              </a:rPr>
              <a:t> body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0BAC92C-B873-4BCA-AE55-745F7AE127F3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16000" indent="0">
              <a:lnSpc>
                <a:spcPct val="100000"/>
              </a:lnSpc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CPK enzyme</a:t>
            </a:r>
          </a:p>
        </p:txBody>
      </p:sp>
      <p:sp>
        <p:nvSpPr>
          <p:cNvPr id="12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741E891-767C-43DD-962B-A2ECC151389A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8A0BBE7-545B-47AC-ABD2-D2DC74F4AA8F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30D35A1-88D0-46D7-BE76-8B2C4E4C3212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5B5C34A-F0C1-41A7-B888-B8CACF8E31D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94EBD56A-ACE3-41B2-9131-1E14AA073988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50C870B-D592-4FC3-AE9D-B855B27A9F2B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C3DADE3-9D50-4DA2-9BF1-66674B5ADF04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7BE481E-6EB4-4A81-94AF-F9FEE268644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7FA44C93-601B-4FD5-81FC-CEA21939F97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8C413B7-F99E-4AF6-8141-B6BED23D0AF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E3E4927-B311-4E12-9387-A9901292F801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B08C42E-4F87-40BC-ADC1-185A371B4AE2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BA39B926-0818-4C22-ACE3-79FDE4C72188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0FD3996-741D-4926-A616-56B424526715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174B9C9-2909-4EFD-B382-598D5431988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26C74CA-E3BB-40E5-99A1-A5DCCCD6491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19DCEA2-A05B-442C-95AF-900BFB5631BF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8C51CFA-F9D9-4463-83CC-496EBB3EA58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838080" y="365040"/>
            <a:ext cx="10515240" cy="614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2970D64-C5DD-4D67-9422-166AD1F14554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2DEEE71-CC57-40F1-9347-673FE548E19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E67E0FD-83A4-4F50-86FF-9931DDF25B6C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B9B6BC6-3784-4E79-9CF0-34F84E65121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838080" y="4098240"/>
            <a:ext cx="1051524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0C3F60F-5699-4BB9-8CD7-E3338E894FA1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26200" y="182556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83808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26200" y="4098240"/>
            <a:ext cx="513108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2E96D25-126D-42F1-94B2-F56BA2941FF6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9344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7949160" y="182556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83808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9344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7949160" y="4098240"/>
            <a:ext cx="3385800" cy="207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E3F6E29-3FB2-41BD-A36D-AF948850F744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 indent="0" algn="ctr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lang="en-US" sz="60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lnSpc>
                <a:spcPct val="100000"/>
              </a:lnSpc>
              <a:buNone/>
              <a:defRPr lang="en-US"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rgbClr val="787878"/>
                </a:solidFill>
                <a:latin typeface="Aptos"/>
              </a:rPr>
              <a:t> 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 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7ABF5EB-9C43-4146-B7DD-96CF3AEEEEB7}" type="slidenum">
              <a:rPr lang="en-US" sz="1200" b="0" strike="noStrike" spc="-1">
                <a:solidFill>
                  <a:srgbClr val="787878"/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indent="0">
              <a:lnSpc>
                <a:spcPct val="90000"/>
              </a:lnSpc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lang="en-US" sz="44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Click to edit Master text styles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latin typeface="Aptos"/>
              </a:rPr>
              <a:t>Second level</a:t>
            </a:r>
          </a:p>
          <a:p>
            <a:pPr marL="1143000" lvl="2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Third level</a:t>
            </a:r>
          </a:p>
          <a:p>
            <a:pPr marL="1600200" lvl="3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Fourth level</a:t>
            </a:r>
          </a:p>
          <a:p>
            <a:pPr marL="2057400" lvl="4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Fifth level</a:t>
            </a:r>
          </a:p>
        </p:txBody>
      </p:sp>
      <p:sp>
        <p:nvSpPr>
          <p:cNvPr id="43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lnSpc>
                <a:spcPct val="100000"/>
              </a:lnSpc>
              <a:buNone/>
              <a:defRPr lang="en-US"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 indent="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rgbClr val="787878"/>
                </a:solidFill>
                <a:latin typeface="Aptos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B6FC2E0-F05F-4DE2-9863-35C6E67E36F4}" type="slidenum">
              <a:rPr lang="en-US" sz="1200" b="0" strike="noStrike" spc="-1">
                <a:solidFill>
                  <a:srgbClr val="787878"/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D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3"/>
          <p:cNvSpPr/>
          <p:nvPr/>
        </p:nvSpPr>
        <p:spPr>
          <a:xfrm>
            <a:off x="0" y="5772960"/>
            <a:ext cx="12191760" cy="10893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pic>
        <p:nvPicPr>
          <p:cNvPr id="89" name="Picture 4"/>
          <p:cNvPicPr/>
          <p:nvPr/>
        </p:nvPicPr>
        <p:blipFill>
          <a:blip r:embed="rId2"/>
          <a:stretch/>
        </p:blipFill>
        <p:spPr>
          <a:xfrm>
            <a:off x="380880" y="6136200"/>
            <a:ext cx="3251160" cy="334440"/>
          </a:xfrm>
          <a:prstGeom prst="rect">
            <a:avLst/>
          </a:prstGeom>
          <a:ln w="0">
            <a:noFill/>
          </a:ln>
        </p:spPr>
      </p:pic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1523880" y="22352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 indent="0" algn="ctr">
              <a:lnSpc>
                <a:spcPct val="90000"/>
              </a:lnSpc>
              <a:buNone/>
            </a:pPr>
            <a:r>
              <a:rPr lang="en-US" sz="4000" b="1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Heart Failure Survival Analysis</a:t>
            </a:r>
            <a:b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 Michigan Data Science Team Project</a:t>
            </a:r>
            <a:b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Sina Bonakdar</a:t>
            </a:r>
            <a:b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Terry </a:t>
            </a:r>
            <a:r>
              <a:rPr lang="en-US" sz="24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Zhang</a:t>
            </a:r>
            <a:b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Picture 6"/>
          <p:cNvPicPr/>
          <p:nvPr/>
        </p:nvPicPr>
        <p:blipFill>
          <a:blip r:embed="rId3"/>
          <a:stretch/>
        </p:blipFill>
        <p:spPr>
          <a:xfrm>
            <a:off x="380880" y="6136200"/>
            <a:ext cx="3251160" cy="334440"/>
          </a:xfrm>
          <a:prstGeom prst="rect">
            <a:avLst/>
          </a:prstGeom>
          <a:ln w="0">
            <a:noFill/>
          </a:ln>
        </p:spPr>
      </p:pic>
      <p:sp>
        <p:nvSpPr>
          <p:cNvPr id="107" name="TextBox 8"/>
          <p:cNvSpPr/>
          <p:nvPr/>
        </p:nvSpPr>
        <p:spPr>
          <a:xfrm>
            <a:off x="0" y="155880"/>
            <a:ext cx="1219176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400" b="1" strike="noStrike" spc="-1">
                <a:solidFill>
                  <a:srgbClr val="000000"/>
                </a:solidFill>
                <a:latin typeface="Times New Roman"/>
              </a:rPr>
              <a:t>Heart Failure Survival Analysis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9"/>
          <p:cNvSpPr/>
          <p:nvPr/>
        </p:nvSpPr>
        <p:spPr>
          <a:xfrm>
            <a:off x="118680" y="894780"/>
            <a:ext cx="8758440" cy="39688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What is Heart Failure?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When the heart cannot pump sufficient blood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Not all heart failures lead to death.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Two types of heart failure: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Reduced ejection fraction (&lt;40% ejection fraction), indicating ineffective heart contraction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743040" lvl="1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0000"/>
                </a:solidFill>
                <a:latin typeface="Times New Roman"/>
              </a:rPr>
              <a:t>Preserved ejection fraction (left ventricle is stiff and cannot relax and fill properly)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0000"/>
                </a:solidFill>
                <a:latin typeface="Times New Roman"/>
              </a:rPr>
              <a:t>Goal: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a) Use machine learning and deep learning classifiers to predict survival event in heart failure patients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b) Identify the most critical parameters affecting survival</a:t>
            </a:r>
            <a:r>
              <a:rPr lang="en-US" sz="1800" b="0" strike="noStrike" spc="-1" dirty="0">
                <a:solidFill>
                  <a:srgbClr val="000000"/>
                </a:solidFill>
                <a:latin typeface="Wingdings"/>
              </a:rPr>
              <a:t></a:t>
            </a: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provide insights to physicians to tailor treatments more effectively and reduce mortality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9" name="Straight Arrow Connector 2"/>
          <p:cNvCxnSpPr/>
          <p:nvPr/>
        </p:nvCxnSpPr>
        <p:spPr>
          <a:xfrm flipH="1">
            <a:off x="8274840" y="2761598"/>
            <a:ext cx="602280" cy="3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sp>
        <p:nvSpPr>
          <p:cNvPr id="110" name="TextBox 3"/>
          <p:cNvSpPr/>
          <p:nvPr/>
        </p:nvSpPr>
        <p:spPr>
          <a:xfrm>
            <a:off x="8877120" y="2579618"/>
            <a:ext cx="11703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FF0000"/>
                </a:solidFill>
                <a:latin typeface="Times New Roman"/>
              </a:rPr>
              <a:t>Our focus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1" name="Picture 4"/>
          <p:cNvPicPr/>
          <p:nvPr/>
        </p:nvPicPr>
        <p:blipFill>
          <a:blip r:embed="rId4"/>
          <a:stretch/>
        </p:blipFill>
        <p:spPr>
          <a:xfrm>
            <a:off x="8750520" y="3539520"/>
            <a:ext cx="3322800" cy="332280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3"/>
          <p:cNvPicPr/>
          <p:nvPr/>
        </p:nvPicPr>
        <p:blipFill>
          <a:blip r:embed="rId3"/>
          <a:stretch/>
        </p:blipFill>
        <p:spPr>
          <a:xfrm>
            <a:off x="380880" y="6136200"/>
            <a:ext cx="3251160" cy="334440"/>
          </a:xfrm>
          <a:prstGeom prst="rect">
            <a:avLst/>
          </a:prstGeom>
          <a:ln w="0">
            <a:noFill/>
          </a:ln>
        </p:spPr>
      </p:pic>
      <p:sp>
        <p:nvSpPr>
          <p:cNvPr id="113" name="TextBox 4"/>
          <p:cNvSpPr/>
          <p:nvPr/>
        </p:nvSpPr>
        <p:spPr>
          <a:xfrm>
            <a:off x="0" y="155880"/>
            <a:ext cx="12191760" cy="51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800" b="1" strike="noStrike" spc="-1" dirty="0">
                <a:solidFill>
                  <a:srgbClr val="000000"/>
                </a:solidFill>
                <a:latin typeface="Times New Roman"/>
              </a:rPr>
              <a:t>Dataset description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5"/>
          <p:cNvSpPr/>
          <p:nvPr/>
        </p:nvSpPr>
        <p:spPr>
          <a:xfrm>
            <a:off x="474119" y="1213920"/>
            <a:ext cx="10263153" cy="10142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Dataset: 299 heart failure patients</a:t>
            </a: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Features: Demographic, lifestyle factors, and critical health indicators</a:t>
            </a: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itchFamily="2" charset="2"/>
              </a:rPr>
              <a:t> Both Binary and Continuous variables</a:t>
            </a:r>
            <a:endParaRPr lang="en-US" sz="20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Target feature: “death event” tracks patient survival in 130 days</a:t>
            </a:r>
          </a:p>
        </p:txBody>
      </p:sp>
      <p:graphicFrame>
        <p:nvGraphicFramePr>
          <p:cNvPr id="115" name="Table 6"/>
          <p:cNvGraphicFramePr/>
          <p:nvPr/>
        </p:nvGraphicFramePr>
        <p:xfrm>
          <a:off x="3632400" y="3716640"/>
          <a:ext cx="8127360" cy="741600"/>
        </p:xfrm>
        <a:graphic>
          <a:graphicData uri="http://schemas.openxmlformats.org/drawingml/2006/table">
            <a:tbl>
              <a:tblPr/>
              <a:tblGrid>
                <a:gridCol w="4063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3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1" strike="noStrike" spc="-1">
                          <a:solidFill>
                            <a:schemeClr val="lt1"/>
                          </a:solidFill>
                          <a:latin typeface="Arial"/>
                        </a:rPr>
                        <a:t>Survived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1" strike="noStrike" spc="-1">
                          <a:solidFill>
                            <a:schemeClr val="lt1"/>
                          </a:solidFill>
                          <a:latin typeface="Arial"/>
                        </a:rPr>
                        <a:t>Died</a:t>
                      </a:r>
                      <a:endParaRPr lang="en-US" sz="18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strike="noStrike" spc="-1" dirty="0">
                          <a:solidFill>
                            <a:schemeClr val="dk1"/>
                          </a:solidFill>
                          <a:latin typeface="Arial"/>
                        </a:rPr>
                        <a:t>203</a:t>
                      </a:r>
                      <a:endParaRPr lang="en-US" sz="18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0" strike="noStrike" spc="-1" dirty="0">
                          <a:solidFill>
                            <a:schemeClr val="dk1"/>
                          </a:solidFill>
                          <a:latin typeface="Arial"/>
                        </a:rPr>
                        <a:t>96</a:t>
                      </a:r>
                      <a:endParaRPr lang="en-US" sz="18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CD2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737AA316-9D85-C268-A696-D86634B7E183}"/>
              </a:ext>
            </a:extLst>
          </p:cNvPr>
          <p:cNvSpPr/>
          <p:nvPr/>
        </p:nvSpPr>
        <p:spPr>
          <a:xfrm>
            <a:off x="0" y="155880"/>
            <a:ext cx="1219176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800" b="1" strike="noStrike" spc="-1" dirty="0">
                <a:solidFill>
                  <a:srgbClr val="000000"/>
                </a:solidFill>
                <a:latin typeface="Times New Roman"/>
              </a:rPr>
              <a:t>Feature Explanations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" name="Picture 5" descr="A screenshot of a medical report&#10;&#10;AI-generated content may be incorrect.">
            <a:extLst>
              <a:ext uri="{FF2B5EF4-FFF2-40B4-BE49-F238E27FC236}">
                <a16:creationId xmlns:a16="http://schemas.microsoft.com/office/drawing/2014/main" id="{40D53318-27AE-F7F9-889F-5E0F6EAE16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850900"/>
            <a:ext cx="7772400" cy="515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079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3"/>
          <p:cNvPicPr/>
          <p:nvPr/>
        </p:nvPicPr>
        <p:blipFill>
          <a:blip r:embed="rId2"/>
          <a:stretch/>
        </p:blipFill>
        <p:spPr>
          <a:xfrm>
            <a:off x="380880" y="6136200"/>
            <a:ext cx="3251160" cy="334440"/>
          </a:xfrm>
          <a:prstGeom prst="rect">
            <a:avLst/>
          </a:prstGeom>
          <a:ln w="0">
            <a:noFill/>
          </a:ln>
        </p:spPr>
      </p:pic>
      <p:sp>
        <p:nvSpPr>
          <p:cNvPr id="117" name="TextBox 4"/>
          <p:cNvSpPr/>
          <p:nvPr/>
        </p:nvSpPr>
        <p:spPr>
          <a:xfrm>
            <a:off x="240" y="129240"/>
            <a:ext cx="12191760" cy="51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800" b="1" strike="noStrike" spc="-1" dirty="0">
                <a:solidFill>
                  <a:srgbClr val="000000"/>
                </a:solidFill>
                <a:latin typeface="Times New Roman"/>
              </a:rPr>
              <a:t>Methods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5"/>
          <p:cNvSpPr/>
          <p:nvPr/>
        </p:nvSpPr>
        <p:spPr>
          <a:xfrm>
            <a:off x="474120" y="820080"/>
            <a:ext cx="8980560" cy="507685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Python 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Times New Roman"/>
              </a:rPr>
              <a:t>Numpy</a:t>
            </a: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, Pandas, SciPy, Scikit-learn, Matplotlib, Seaborn,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Times New Roman"/>
              </a:rPr>
              <a:t>PyTorch</a:t>
            </a: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, TensorFlow)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Data preprocessing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Feature selection (e.g., Elastic Network, MRMR)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Data Visualization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Statistical Analysis (e.g. correlation, significance test)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Unsupervised learning to uncover data structures (e.g. PCA, k-means)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Supervised learning classifiers will be used for Binary classification (e.g. random forest, logistic regression, SVMs,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Times New Roman"/>
              </a:rPr>
              <a:t>XGBoost</a:t>
            </a: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, Neural Network)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Use different evaluation metrics for evaluation of ML models (e.g. F1, AUC, Accuracy)</a:t>
            </a: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lang="en-US" spc="-1" dirty="0">
              <a:solidFill>
                <a:srgbClr val="000000"/>
              </a:solidFill>
              <a:latin typeface="Times New Roman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Times New Roman"/>
              </a:rPr>
              <a:t>Use ML Interpretation tools to interpret from our predictions (SHAP, PLSDA)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06325C-1F00-411F-F856-74F18ADDA751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380880" y="6136200"/>
            <a:ext cx="3251160" cy="334440"/>
          </a:xfrm>
          <a:prstGeom prst="rect">
            <a:avLst/>
          </a:prstGeom>
          <a:ln w="0">
            <a:noFill/>
          </a:ln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F8CB3526-0425-FC53-D034-1CFB4484B94F}"/>
              </a:ext>
            </a:extLst>
          </p:cNvPr>
          <p:cNvSpPr/>
          <p:nvPr/>
        </p:nvSpPr>
        <p:spPr>
          <a:xfrm>
            <a:off x="0" y="162720"/>
            <a:ext cx="1219176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800" b="1" spc="-1" dirty="0">
                <a:solidFill>
                  <a:srgbClr val="000000"/>
                </a:solidFill>
                <a:latin typeface="Times New Roman"/>
              </a:rPr>
              <a:t>Accomplishments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4994B655-6FA6-1732-1E79-1CA12246AC0B}"/>
              </a:ext>
            </a:extLst>
          </p:cNvPr>
          <p:cNvSpPr/>
          <p:nvPr/>
        </p:nvSpPr>
        <p:spPr>
          <a:xfrm>
            <a:off x="380880" y="594915"/>
            <a:ext cx="9788356" cy="56308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840" indent="-285840">
              <a:buClr>
                <a:srgbClr val="000000"/>
              </a:buClr>
              <a:buFont typeface="Arial"/>
              <a:buChar char="•"/>
            </a:pPr>
            <a:r>
              <a:rPr lang="en-US" sz="24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  <a:endParaRPr lang="en-US" sz="2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lang="en-US" sz="2400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Explanation and Preprocessing</a:t>
            </a:r>
          </a:p>
          <a:p>
            <a:pPr>
              <a:lnSpc>
                <a:spcPct val="100000"/>
              </a:lnSpc>
              <a:buClr>
                <a:srgbClr val="000000"/>
              </a:buClr>
            </a:pPr>
            <a:endParaRPr lang="en-US" sz="2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Statistical Analysis</a:t>
            </a: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lang="en-US" sz="2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Unsupervised Learning, Dimensional Reduction, and Confusion Matrix</a:t>
            </a: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lang="en-US" sz="2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Simple Machine Learning Algorithms</a:t>
            </a: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lang="en-US" sz="2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Metrics</a:t>
            </a: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lang="en-US" sz="2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Multi-layer Perceptron </a:t>
            </a: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lang="en-US" sz="2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Interpretation Tools</a:t>
            </a:r>
            <a:endParaRPr lang="en-US" sz="2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671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C78DD361-BAEE-808A-243E-D374C4E78425}"/>
              </a:ext>
            </a:extLst>
          </p:cNvPr>
          <p:cNvSpPr/>
          <p:nvPr/>
        </p:nvSpPr>
        <p:spPr>
          <a:xfrm>
            <a:off x="0" y="162720"/>
            <a:ext cx="1219176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2800" b="1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4BA19C-B6DD-8664-40E1-0AF7D09DBD51}"/>
              </a:ext>
            </a:extLst>
          </p:cNvPr>
          <p:cNvSpPr txBox="1"/>
          <p:nvPr/>
        </p:nvSpPr>
        <p:spPr>
          <a:xfrm>
            <a:off x="478971" y="1153886"/>
            <a:ext cx="146065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Libraries: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Seaborn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30B077-6032-198E-320B-9EC0AA507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6556" y="844880"/>
            <a:ext cx="2565400" cy="20764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9C2AB1-2276-4F39-5F31-71FDC0E4FF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71" y="3390730"/>
            <a:ext cx="4058914" cy="31628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C3573C-F675-989B-3C32-D27AFDA324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4148" y="1603821"/>
            <a:ext cx="6987297" cy="38456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EC1FC3-9790-CF4C-310F-DCE5893854F2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62708" y="6523560"/>
            <a:ext cx="3251160" cy="33444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4013086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486F1A8-9589-AC47-55BF-60B9E029597E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380880" y="6136200"/>
            <a:ext cx="3251160" cy="334440"/>
          </a:xfrm>
          <a:prstGeom prst="rect">
            <a:avLst/>
          </a:prstGeom>
          <a:ln w="0"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472765-1F2F-7186-66AC-F438F7D362BE}"/>
              </a:ext>
            </a:extLst>
          </p:cNvPr>
          <p:cNvSpPr/>
          <p:nvPr/>
        </p:nvSpPr>
        <p:spPr>
          <a:xfrm>
            <a:off x="0" y="126477"/>
            <a:ext cx="1219176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/>
            <a:r>
              <a:rPr lang="en-US" sz="2800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Explanation and Preprocessing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FDDEB0-F436-19AB-9347-62F149020E08}"/>
              </a:ext>
            </a:extLst>
          </p:cNvPr>
          <p:cNvSpPr/>
          <p:nvPr/>
        </p:nvSpPr>
        <p:spPr>
          <a:xfrm>
            <a:off x="380880" y="1776043"/>
            <a:ext cx="8980560" cy="119887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285840" indent="-285840"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How to work with</a:t>
            </a:r>
            <a:r>
              <a:rPr lang="en-US" sz="2400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en-US" sz="24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Pandas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dataframe</a:t>
            </a:r>
            <a:endParaRPr lang="en-US" sz="2400" b="0" strike="noStrike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840" indent="-285840">
              <a:buClr>
                <a:srgbClr val="000000"/>
              </a:buClr>
              <a:buFont typeface="Arial"/>
              <a:buChar char="•"/>
            </a:pPr>
            <a:endParaRPr lang="en-US" sz="2400" spc="-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840" indent="-285840"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Normalization (</a:t>
            </a:r>
            <a:r>
              <a:rPr lang="en-US" sz="2400" b="0" strike="noStrike" spc="-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zscore</a:t>
            </a:r>
            <a:r>
              <a:rPr lang="en-US" sz="2400" b="0" strike="noStrike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5EFE68-50F8-EB4B-A5D6-A28ACF932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4582" y="3335668"/>
            <a:ext cx="7772400" cy="3134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9441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DD1DA551-9A65-0ACF-F22D-5F03A63ED80B}"/>
              </a:ext>
            </a:extLst>
          </p:cNvPr>
          <p:cNvSpPr/>
          <p:nvPr/>
        </p:nvSpPr>
        <p:spPr>
          <a:xfrm>
            <a:off x="240" y="126477"/>
            <a:ext cx="1219176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/>
            <a:r>
              <a:rPr lang="en-US" sz="2800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Statistical Analysis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A38EA8-2C4A-8629-D9C3-28D62959D9C3}"/>
              </a:ext>
            </a:extLst>
          </p:cNvPr>
          <p:cNvSpPr txBox="1"/>
          <p:nvPr/>
        </p:nvSpPr>
        <p:spPr>
          <a:xfrm>
            <a:off x="942109" y="1233055"/>
            <a:ext cx="28520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Correlation between features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1DBBDA-5F95-F6B5-C347-E8278AA00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37" y="1782405"/>
            <a:ext cx="3864207" cy="40732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8C5EEBC-E23A-1D52-FD8D-218C3780F0DC}"/>
              </a:ext>
            </a:extLst>
          </p:cNvPr>
          <p:cNvSpPr txBox="1"/>
          <p:nvPr/>
        </p:nvSpPr>
        <p:spPr>
          <a:xfrm>
            <a:off x="7204349" y="1233055"/>
            <a:ext cx="269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Correlation with the output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61C098-4893-46FC-95D3-25CD4E7F9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69" y="1692396"/>
            <a:ext cx="5477164" cy="40885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8485CC-8102-49B4-B069-411E0387740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380880" y="6136200"/>
            <a:ext cx="3251160" cy="33444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39630584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A5733C39-E375-DFB1-3E3F-20C7C9E59D0D}"/>
              </a:ext>
            </a:extLst>
          </p:cNvPr>
          <p:cNvSpPr/>
          <p:nvPr/>
        </p:nvSpPr>
        <p:spPr>
          <a:xfrm>
            <a:off x="240" y="126477"/>
            <a:ext cx="1219176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/>
            <a:r>
              <a:rPr lang="en-US" sz="2800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Statistical Analysis from SciPy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909725-A656-0928-1937-5C927C4EF43E}"/>
              </a:ext>
            </a:extLst>
          </p:cNvPr>
          <p:cNvSpPr txBox="1"/>
          <p:nvPr/>
        </p:nvSpPr>
        <p:spPr>
          <a:xfrm>
            <a:off x="1958835" y="1427018"/>
            <a:ext cx="1842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Two-sample t-test</a:t>
            </a:r>
          </a:p>
        </p:txBody>
      </p:sp>
      <p:pic>
        <p:nvPicPr>
          <p:cNvPr id="7" name="Picture 6" descr="A screenshot of a table&#10;&#10;AI-generated content may be incorrect.">
            <a:extLst>
              <a:ext uri="{FF2B5EF4-FFF2-40B4-BE49-F238E27FC236}">
                <a16:creationId xmlns:a16="http://schemas.microsoft.com/office/drawing/2014/main" id="{446499CF-8055-BE7D-2710-7ECD072FF9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478" y="1796350"/>
            <a:ext cx="4590282" cy="43689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8BCB43-FAF1-393B-B3BC-8E996F49E27D}"/>
              </a:ext>
            </a:extLst>
          </p:cNvPr>
          <p:cNvSpPr txBox="1"/>
          <p:nvPr/>
        </p:nvSpPr>
        <p:spPr>
          <a:xfrm>
            <a:off x="7107786" y="1288518"/>
            <a:ext cx="3214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Mann-Whitney U test and Multiple Hypothesis Test</a:t>
            </a:r>
          </a:p>
        </p:txBody>
      </p:sp>
      <p:pic>
        <p:nvPicPr>
          <p:cNvPr id="10" name="Picture 9" descr="A table of numbers and letters&#10;&#10;AI-generated content may be incorrect.">
            <a:extLst>
              <a:ext uri="{FF2B5EF4-FFF2-40B4-BE49-F238E27FC236}">
                <a16:creationId xmlns:a16="http://schemas.microsoft.com/office/drawing/2014/main" id="{2FD9B7A8-6B3D-BDEF-829E-BA4B3DDCA5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0478" y="2075991"/>
            <a:ext cx="6668872" cy="400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8204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4">
            <a:extLst>
              <a:ext uri="{FF2B5EF4-FFF2-40B4-BE49-F238E27FC236}">
                <a16:creationId xmlns:a16="http://schemas.microsoft.com/office/drawing/2014/main" id="{CFB08EE3-6072-8216-5AAE-049EFE90A40B}"/>
              </a:ext>
            </a:extLst>
          </p:cNvPr>
          <p:cNvSpPr/>
          <p:nvPr/>
        </p:nvSpPr>
        <p:spPr>
          <a:xfrm>
            <a:off x="240" y="126477"/>
            <a:ext cx="1219176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/>
            <a:r>
              <a:rPr lang="en-US" sz="2800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Unsupervised Learning, Dimensional Reduction, and Confusion Matric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FB35BD-1C56-8F3A-A6C8-570F48265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570" y="1197574"/>
            <a:ext cx="7772400" cy="55339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58F1C1-C9BE-989A-761F-1E2D5C98BC4C}"/>
              </a:ext>
            </a:extLst>
          </p:cNvPr>
          <p:cNvSpPr txBox="1"/>
          <p:nvPr/>
        </p:nvSpPr>
        <p:spPr>
          <a:xfrm>
            <a:off x="4477576" y="738242"/>
            <a:ext cx="3510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Principal Component Analysis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C76B1E-5591-4604-4695-555955531E00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380880" y="6136200"/>
            <a:ext cx="3251160" cy="33444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1508789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1A308ED-6AD0-FF37-20D3-88635E080FF3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380880" y="6136200"/>
            <a:ext cx="3251160" cy="334440"/>
          </a:xfrm>
          <a:prstGeom prst="rect">
            <a:avLst/>
          </a:prstGeom>
          <a:ln w="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2665E70-5DDA-3CBC-ED70-06CF78D8D027}"/>
              </a:ext>
            </a:extLst>
          </p:cNvPr>
          <p:cNvSpPr txBox="1"/>
          <p:nvPr/>
        </p:nvSpPr>
        <p:spPr>
          <a:xfrm>
            <a:off x="224231" y="387360"/>
            <a:ext cx="2364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K-means Clustering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C4F3CC-326B-FE2D-8EA2-0B03CC467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7581"/>
            <a:ext cx="3626362" cy="30999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2E6546-3AEE-753C-3589-B2BF59F5F6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8846" y="572026"/>
            <a:ext cx="4483100" cy="3390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1D6ADB-1DF2-177A-BACD-04EA84BA9BC4}"/>
              </a:ext>
            </a:extLst>
          </p:cNvPr>
          <p:cNvSpPr txBox="1"/>
          <p:nvPr/>
        </p:nvSpPr>
        <p:spPr>
          <a:xfrm>
            <a:off x="5478777" y="252722"/>
            <a:ext cx="3775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Condusion Matrix of K-means clusters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B63F07-2D89-7083-0B6B-BB0455C4C006}"/>
              </a:ext>
            </a:extLst>
          </p:cNvPr>
          <p:cNvSpPr txBox="1"/>
          <p:nvPr/>
        </p:nvSpPr>
        <p:spPr>
          <a:xfrm>
            <a:off x="5231246" y="3862870"/>
            <a:ext cx="3653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identify the optimal K-value?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B012BC-AE98-EFA3-37DE-DC6F2F8472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8720" y="4232202"/>
            <a:ext cx="7772400" cy="254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456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E9E3DA-DF54-E095-FBBE-2A0236324D85}"/>
              </a:ext>
            </a:extLst>
          </p:cNvPr>
          <p:cNvSpPr txBox="1"/>
          <p:nvPr/>
        </p:nvSpPr>
        <p:spPr>
          <a:xfrm>
            <a:off x="224231" y="387360"/>
            <a:ext cx="2710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Hierarchical Clustering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7E8084-842A-D07E-0DC8-284C3867A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964" y="133503"/>
            <a:ext cx="7772400" cy="329549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3F46165-E8A3-C9F3-53D6-A855E60DA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37" y="3164402"/>
            <a:ext cx="4091708" cy="34977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E0D971-A603-0C01-0248-CCB318484FC0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8665898" y="6327712"/>
            <a:ext cx="3251160" cy="33444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42224902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42BF500-5BA5-FC61-398A-3D13981AC698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380880" y="6136200"/>
            <a:ext cx="3251160" cy="334440"/>
          </a:xfrm>
          <a:prstGeom prst="rect">
            <a:avLst/>
          </a:prstGeom>
          <a:ln w="0"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C25413-1EED-3E21-0C90-26900352DA9A}"/>
              </a:ext>
            </a:extLst>
          </p:cNvPr>
          <p:cNvSpPr/>
          <p:nvPr/>
        </p:nvSpPr>
        <p:spPr>
          <a:xfrm>
            <a:off x="240" y="126477"/>
            <a:ext cx="1219176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/>
            <a:r>
              <a:rPr lang="en-US" sz="2800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Supervised Learning and Evaluation Metrics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77BF6E-ACDB-5877-CD59-FEEADB429886}"/>
              </a:ext>
            </a:extLst>
          </p:cNvPr>
          <p:cNvSpPr txBox="1"/>
          <p:nvPr/>
        </p:nvSpPr>
        <p:spPr>
          <a:xfrm>
            <a:off x="346364" y="955964"/>
            <a:ext cx="261642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train-test split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Normalization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on test 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93ED9-BD53-808A-32FD-31250D5792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8360760"/>
              </p:ext>
            </p:extLst>
          </p:nvPr>
        </p:nvGraphicFramePr>
        <p:xfrm>
          <a:off x="3371989" y="1058536"/>
          <a:ext cx="8128000" cy="3672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47917118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86841969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63656383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53530447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548763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F1-Score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355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Dummy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029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K-Nearest Neighbors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086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Linear 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0978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Kernel 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288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024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520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03738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5A79BA01-3893-9A11-E48C-38CA7C17A86B}"/>
              </a:ext>
            </a:extLst>
          </p:cNvPr>
          <p:cNvSpPr/>
          <p:nvPr/>
        </p:nvSpPr>
        <p:spPr>
          <a:xfrm>
            <a:off x="240" y="126477"/>
            <a:ext cx="1219176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/>
            <a:r>
              <a:rPr lang="en-US" sz="2800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 Selection 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CF8C1A-53ED-EFA3-5401-FEC92C46FC06}"/>
              </a:ext>
            </a:extLst>
          </p:cNvPr>
          <p:cNvSpPr txBox="1"/>
          <p:nvPr/>
        </p:nvSpPr>
        <p:spPr>
          <a:xfrm>
            <a:off x="346364" y="937868"/>
            <a:ext cx="27188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Elastic Net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MRMR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EEDF4A-CA5B-CB6B-CF38-DB44543DE015}"/>
              </a:ext>
            </a:extLst>
          </p:cNvPr>
          <p:cNvSpPr txBox="1"/>
          <p:nvPr/>
        </p:nvSpPr>
        <p:spPr>
          <a:xfrm>
            <a:off x="346364" y="5020470"/>
            <a:ext cx="46244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model performance with top 2 features selected with MRMR and Elastic Net: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FE4DFD-81DD-6C00-A57B-B5EB496C6F5A}"/>
              </a:ext>
            </a:extLst>
          </p:cNvPr>
          <p:cNvSpPr txBox="1"/>
          <p:nvPr/>
        </p:nvSpPr>
        <p:spPr>
          <a:xfrm>
            <a:off x="5386688" y="4922301"/>
            <a:ext cx="609814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None/>
            </a:pPr>
            <a:r>
              <a:rPr lang="en-US" b="0" i="0" dirty="0">
                <a:effectLst/>
                <a:latin typeface="Menlo" panose="020B0609030804020204" pitchFamily="49" charset="0"/>
              </a:rPr>
              <a:t>features used are: Index(['</a:t>
            </a:r>
            <a:r>
              <a:rPr lang="en-US" b="0" i="0" dirty="0" err="1">
                <a:effectLst/>
                <a:latin typeface="Menlo" panose="020B0609030804020204" pitchFamily="49" charset="0"/>
              </a:rPr>
              <a:t>ejection_fraction</a:t>
            </a:r>
            <a:r>
              <a:rPr lang="en-US" b="0" i="0" dirty="0">
                <a:effectLst/>
                <a:latin typeface="Menlo" panose="020B0609030804020204" pitchFamily="49" charset="0"/>
              </a:rPr>
              <a:t>', '</a:t>
            </a:r>
            <a:r>
              <a:rPr lang="en-US" b="0" i="0" dirty="0" err="1">
                <a:effectLst/>
                <a:latin typeface="Menlo" panose="020B0609030804020204" pitchFamily="49" charset="0"/>
              </a:rPr>
              <a:t>serum_creatinine</a:t>
            </a:r>
            <a:r>
              <a:rPr lang="en-US" b="0" i="0" dirty="0">
                <a:effectLst/>
                <a:latin typeface="Menlo" panose="020B0609030804020204" pitchFamily="49" charset="0"/>
              </a:rPr>
              <a:t>'], </a:t>
            </a:r>
            <a:r>
              <a:rPr lang="en-US" b="0" i="0" dirty="0" err="1">
                <a:effectLst/>
                <a:latin typeface="Menlo" panose="020B0609030804020204" pitchFamily="49" charset="0"/>
              </a:rPr>
              <a:t>dtype</a:t>
            </a:r>
            <a:r>
              <a:rPr lang="en-US" b="0" i="0" dirty="0">
                <a:effectLst/>
                <a:latin typeface="Menlo" panose="020B0609030804020204" pitchFamily="49" charset="0"/>
              </a:rPr>
              <a:t>='object')</a:t>
            </a:r>
          </a:p>
          <a:p>
            <a:pPr algn="l" latinLnBrk="1">
              <a:buNone/>
            </a:pPr>
            <a:r>
              <a:rPr lang="en-US" b="0" i="0" dirty="0">
                <a:effectLst/>
                <a:latin typeface="Menlo" panose="020B0609030804020204" pitchFamily="49" charset="0"/>
              </a:rPr>
              <a:t>Accuracy: 0.7888888888888889</a:t>
            </a:r>
          </a:p>
          <a:p>
            <a:pPr algn="l" latinLnBrk="1">
              <a:buNone/>
            </a:pPr>
            <a:r>
              <a:rPr lang="en-US" b="0" i="0" dirty="0">
                <a:effectLst/>
                <a:latin typeface="Menlo" panose="020B0609030804020204" pitchFamily="49" charset="0"/>
              </a:rPr>
              <a:t>Precision: 0.6923076923076923</a:t>
            </a:r>
          </a:p>
          <a:p>
            <a:pPr algn="l" latinLnBrk="1">
              <a:buNone/>
            </a:pPr>
            <a:r>
              <a:rPr lang="en-US" b="0" i="0" dirty="0">
                <a:effectLst/>
                <a:latin typeface="Menlo" panose="020B0609030804020204" pitchFamily="49" charset="0"/>
              </a:rPr>
              <a:t>Recall: 0.6206896551724138</a:t>
            </a:r>
          </a:p>
          <a:p>
            <a:pPr algn="l" latinLnBrk="1">
              <a:buNone/>
            </a:pPr>
            <a:r>
              <a:rPr lang="en-US" b="0" i="0" dirty="0">
                <a:effectLst/>
                <a:latin typeface="Menlo" panose="020B0609030804020204" pitchFamily="49" charset="0"/>
              </a:rPr>
              <a:t>F1-Score: 0.6545454545454545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304120-C8B5-A992-CCF1-77047415AF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2539" y="623772"/>
            <a:ext cx="7772400" cy="4224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699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E1DB7C8E-A399-BA9E-E18A-989E7D365CF1}"/>
              </a:ext>
            </a:extLst>
          </p:cNvPr>
          <p:cNvSpPr/>
          <p:nvPr/>
        </p:nvSpPr>
        <p:spPr>
          <a:xfrm>
            <a:off x="240" y="126477"/>
            <a:ext cx="1219176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/>
            <a:r>
              <a:rPr lang="en-US" sz="2800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Learning: Multi-layer Perceptron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181DA4-0A47-575A-01AE-D753D2D514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777" y="831939"/>
            <a:ext cx="9448445" cy="4435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516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9180831-83A7-D9CB-F207-B04D29854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832" y="767271"/>
            <a:ext cx="7170506" cy="5964252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6FE2CFE-A903-328D-447A-81905250CB87}"/>
              </a:ext>
            </a:extLst>
          </p:cNvPr>
          <p:cNvSpPr/>
          <p:nvPr/>
        </p:nvSpPr>
        <p:spPr>
          <a:xfrm>
            <a:off x="240" y="126477"/>
            <a:ext cx="12191760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/>
            <a:r>
              <a:rPr lang="en-US" sz="2800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Interpretation Tools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F47ABE-9E72-BF03-7224-1639687F73EC}"/>
              </a:ext>
            </a:extLst>
          </p:cNvPr>
          <p:cNvSpPr/>
          <p:nvPr/>
        </p:nvSpPr>
        <p:spPr>
          <a:xfrm>
            <a:off x="6413679" y="4322843"/>
            <a:ext cx="4187541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2800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PLSDA</a:t>
            </a:r>
          </a:p>
        </p:txBody>
      </p:sp>
    </p:spTree>
    <p:extLst>
      <p:ext uri="{BB962C8B-B14F-4D97-AF65-F5344CB8AC3E}">
        <p14:creationId xmlns:p14="http://schemas.microsoft.com/office/powerpoint/2010/main" val="2549244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B6706A2-125F-6721-36A4-B0713E2D6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244" y="1441129"/>
            <a:ext cx="7772400" cy="49666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202928-E909-E977-826D-AC8EFDD2DA38}"/>
              </a:ext>
            </a:extLst>
          </p:cNvPr>
          <p:cNvSpPr/>
          <p:nvPr/>
        </p:nvSpPr>
        <p:spPr>
          <a:xfrm>
            <a:off x="180303" y="283496"/>
            <a:ext cx="4187541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2800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SHAP on Random Forest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0B05858A-CBE9-FD30-6C7B-B5E9FD090C6B}"/>
              </a:ext>
            </a:extLst>
          </p:cNvPr>
          <p:cNvSpPr/>
          <p:nvPr/>
        </p:nvSpPr>
        <p:spPr>
          <a:xfrm>
            <a:off x="4571169" y="805262"/>
            <a:ext cx="2162457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2800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Survived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BC8AECFE-BF0C-6608-BA7C-9DD22CE1C854}"/>
              </a:ext>
            </a:extLst>
          </p:cNvPr>
          <p:cNvSpPr/>
          <p:nvPr/>
        </p:nvSpPr>
        <p:spPr>
          <a:xfrm>
            <a:off x="6096000" y="805262"/>
            <a:ext cx="2162457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2800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Died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10569DE-E7DC-E5F3-D6FA-CB72ADA59AB0}"/>
              </a:ext>
            </a:extLst>
          </p:cNvPr>
          <p:cNvCxnSpPr/>
          <p:nvPr/>
        </p:nvCxnSpPr>
        <p:spPr>
          <a:xfrm>
            <a:off x="6348333" y="1441129"/>
            <a:ext cx="121156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7E63AD8-C6F5-9FCC-E040-17E977BC988F}"/>
              </a:ext>
            </a:extLst>
          </p:cNvPr>
          <p:cNvCxnSpPr>
            <a:cxnSpLocks/>
          </p:cNvCxnSpPr>
          <p:nvPr/>
        </p:nvCxnSpPr>
        <p:spPr>
          <a:xfrm flipH="1">
            <a:off x="5046616" y="1441129"/>
            <a:ext cx="121156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633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>
            <a:extLst>
              <a:ext uri="{FF2B5EF4-FFF2-40B4-BE49-F238E27FC236}">
                <a16:creationId xmlns:a16="http://schemas.microsoft.com/office/drawing/2014/main" id="{497DB622-BD95-A896-A2ED-38210A27178F}"/>
              </a:ext>
            </a:extLst>
          </p:cNvPr>
          <p:cNvSpPr/>
          <p:nvPr/>
        </p:nvSpPr>
        <p:spPr>
          <a:xfrm>
            <a:off x="180303" y="283496"/>
            <a:ext cx="4187541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2800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SHAP on MLP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90CD7B-1E86-4CCF-8F3E-E7A657E27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0939" y="1263919"/>
            <a:ext cx="7772400" cy="4966694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9FA6E2C4-97D5-532C-ACE5-4CB184E65C91}"/>
              </a:ext>
            </a:extLst>
          </p:cNvPr>
          <p:cNvSpPr/>
          <p:nvPr/>
        </p:nvSpPr>
        <p:spPr>
          <a:xfrm>
            <a:off x="4764352" y="634159"/>
            <a:ext cx="2162457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2800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Survived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62B36BA9-938E-3127-E141-BF6F1BEBD843}"/>
              </a:ext>
            </a:extLst>
          </p:cNvPr>
          <p:cNvSpPr/>
          <p:nvPr/>
        </p:nvSpPr>
        <p:spPr>
          <a:xfrm>
            <a:off x="6289183" y="634159"/>
            <a:ext cx="2162457" cy="5217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2800" b="1" spc="-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Died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383F465-9D39-11A7-98AA-44EB497FBC67}"/>
              </a:ext>
            </a:extLst>
          </p:cNvPr>
          <p:cNvCxnSpPr/>
          <p:nvPr/>
        </p:nvCxnSpPr>
        <p:spPr>
          <a:xfrm>
            <a:off x="6541516" y="1270026"/>
            <a:ext cx="121156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43FBDBC-E5CB-BEA2-19D7-E3FE44944373}"/>
              </a:ext>
            </a:extLst>
          </p:cNvPr>
          <p:cNvCxnSpPr>
            <a:cxnSpLocks/>
          </p:cNvCxnSpPr>
          <p:nvPr/>
        </p:nvCxnSpPr>
        <p:spPr>
          <a:xfrm flipH="1">
            <a:off x="5239799" y="1270026"/>
            <a:ext cx="121156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8853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4130</TotalTime>
  <Words>568</Words>
  <Application>Microsoft Macintosh PowerPoint</Application>
  <PresentationFormat>Widescreen</PresentationFormat>
  <Paragraphs>145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Aptos</vt:lpstr>
      <vt:lpstr>Aptos Display</vt:lpstr>
      <vt:lpstr>Arial</vt:lpstr>
      <vt:lpstr>Menlo</vt:lpstr>
      <vt:lpstr>Symbol</vt:lpstr>
      <vt:lpstr>Times New Roman</vt:lpstr>
      <vt:lpstr>Wingdings</vt:lpstr>
      <vt:lpstr>Office Theme</vt:lpstr>
      <vt:lpstr>Office Theme</vt:lpstr>
      <vt:lpstr>Heart Failure Survival Analysis    2026 Michigan Data Science Team Project  Sina Bonakdar Terry Zhang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Thomas, Jennifer</dc:creator>
  <dc:description/>
  <cp:lastModifiedBy>Bonakdar, Sina</cp:lastModifiedBy>
  <cp:revision>80</cp:revision>
  <dcterms:created xsi:type="dcterms:W3CDTF">2024-06-04T18:45:39Z</dcterms:created>
  <dcterms:modified xsi:type="dcterms:W3CDTF">2026-04-12T16:33:21Z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</vt:i4>
  </property>
  <property fmtid="{D5CDD505-2E9C-101B-9397-08002B2CF9AE}" pid="3" name="PresentationFormat">
    <vt:lpwstr>Widescreen</vt:lpwstr>
  </property>
  <property fmtid="{D5CDD505-2E9C-101B-9397-08002B2CF9AE}" pid="4" name="Slides">
    <vt:i4>7</vt:i4>
  </property>
</Properties>
</file>