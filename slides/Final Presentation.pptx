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21.svg" ContentType="image/sv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dt" idx="7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ftr" idx="7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6"/>
          <p:cNvSpPr>
            <a:spLocks noGrp="1"/>
          </p:cNvSpPr>
          <p:nvPr>
            <p:ph type="sldNum" idx="7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222A85-548F-4CC5-8F21-E0EA16D0E7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Ejection fraction: is the percentage of blood that heart pumps out.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Low oxygen blood from body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right atrium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right ventricle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lung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High oxygen blood from lung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left atrium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left ventricle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body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49D8AC-F79A-4BA3-B118-228B0C3A284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7716DE-A1DF-4443-8F04-E0DF6B742DFD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18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1547B2-7A78-4131-8748-DF8FA0DBE230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FD6F39-0317-49FB-93C3-D95B7EC956C0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EF8F71-F5E8-4FBC-854E-13A2885559A7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93330F-0284-4291-8364-AE707588BF61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D39958-4539-4F90-8867-B8D53D2454FA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E2B961-E1F4-4D7B-9F35-FC173803FBE5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CABD1A-E7D3-45F9-9BC7-6837179BF017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628C7F-152B-4F14-AE61-7B6F0067FAB2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F8A6C1-D654-4959-9A2D-CBB7A47210E6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2E9747-DEEE-4258-B1C2-9068E4C913DB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768BD2-B517-42F5-9F55-F0045E1E8AE1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B17E45-BC7D-470B-8372-0C1B0EFB8681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AB4467-2CFB-40A7-960A-30EF8D0825CB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586A92-5ED4-42D9-8169-096989BFF289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8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9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DCE691-84B3-47A4-8BC4-D8F3850347A8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10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C39CFC-FEA4-454B-81BB-618D8B51E928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0AEE03-179C-4F0E-AF94-A0469E2940FB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06C632-3F5C-4DAE-B858-382AB96758A6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080613-80D1-4E3D-8873-48E2ADDE384B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424248-DD91-4FE5-BC3D-02F7CFD833C2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FE80FC-5AA6-49D5-BC90-149A1632704D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881C48-AAA0-481E-BE0A-91D53652EB83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9FD49F-9D84-4262-998A-430BAE538505}" type="slidenum">
              <a:rPr b="0" lang="en-US" sz="1200" strike="noStrike" u="none">
                <a:solidFill>
                  <a:srgbClr val="787878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3"/>
          <p:cNvSpPr/>
          <p:nvPr/>
        </p:nvSpPr>
        <p:spPr>
          <a:xfrm>
            <a:off x="0" y="5772960"/>
            <a:ext cx="12191400" cy="108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  <a:ea typeface="DejaVu Sans"/>
            </a:endParaRPr>
          </a:p>
        </p:txBody>
      </p:sp>
      <p:pic>
        <p:nvPicPr>
          <p:cNvPr id="151" name="Picture 4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523880" y="223524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Heart Failure Survival Analysis</a:t>
            </a:r>
            <a:br>
              <a:rPr sz="40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2026 Michigan Data Science Team Project</a:t>
            </a:r>
            <a:br>
              <a:rPr sz="2400"/>
            </a:b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Sina Bonakdar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Terry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Zhang</a:t>
            </a:r>
            <a:br>
              <a:rPr sz="2400"/>
            </a:b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6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8"/>
          <p:cNvSpPr/>
          <p:nvPr/>
        </p:nvSpPr>
        <p:spPr>
          <a:xfrm>
            <a:off x="0" y="155880"/>
            <a:ext cx="1219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Heart Failure Survival Analysis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228600" y="894960"/>
            <a:ext cx="864828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is Heart Failure?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heart cannot pump sufficient blood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Not all heart failures lead to death.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Two types of heart failure: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Reduced ejection fraction (&lt;40% ejection fraction), indicating ineffective heart contraction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Preserved ejection fraction (left ventricle is stiff and cannot relax and fill properly)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Goal: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a) Use machine learning and deep learning classifiers to predict survival event in heart failure patients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b) Identify the most critical parameters affecting survival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=&gt;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provide insights to physicians to tailor treatments more effectively and reduce mortality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Straight Arrow Connector 2"/>
          <p:cNvCxnSpPr/>
          <p:nvPr/>
        </p:nvCxnSpPr>
        <p:spPr>
          <a:xfrm flipH="1">
            <a:off x="8274600" y="2761560"/>
            <a:ext cx="602640" cy="7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157" name="TextBox 3"/>
          <p:cNvSpPr/>
          <p:nvPr/>
        </p:nvSpPr>
        <p:spPr>
          <a:xfrm>
            <a:off x="8877240" y="2579760"/>
            <a:ext cx="117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Our focus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4" descr=""/>
          <p:cNvPicPr/>
          <p:nvPr/>
        </p:nvPicPr>
        <p:blipFill>
          <a:blip r:embed="rId2"/>
          <a:stretch/>
        </p:blipFill>
        <p:spPr>
          <a:xfrm>
            <a:off x="8750520" y="3539520"/>
            <a:ext cx="3322440" cy="332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"/>
          <p:cNvSpPr/>
          <p:nvPr/>
        </p:nvSpPr>
        <p:spPr>
          <a:xfrm>
            <a:off x="0" y="15588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Feature Explanations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5" descr="A screenshot of a medical report&#10;&#10;AI-generated content may be incorrect."/>
          <p:cNvPicPr/>
          <p:nvPr/>
        </p:nvPicPr>
        <p:blipFill>
          <a:blip r:embed="rId1"/>
          <a:stretch/>
        </p:blipFill>
        <p:spPr>
          <a:xfrm>
            <a:off x="2514600" y="685800"/>
            <a:ext cx="6629400" cy="4397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61" name="Table 1"/>
          <p:cNvGraphicFramePr/>
          <p:nvPr/>
        </p:nvGraphicFramePr>
        <p:xfrm>
          <a:off x="1771200" y="5553720"/>
          <a:ext cx="8127000" cy="741600"/>
        </p:xfrm>
        <a:graphic>
          <a:graphicData uri="http://schemas.openxmlformats.org/drawingml/2006/table">
            <a:tbl>
              <a:tblPr/>
              <a:tblGrid>
                <a:gridCol w="4063680"/>
                <a:gridCol w="40636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Survived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Died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203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96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3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4"/>
          <p:cNvSpPr/>
          <p:nvPr/>
        </p:nvSpPr>
        <p:spPr>
          <a:xfrm>
            <a:off x="360" y="129240"/>
            <a:ext cx="12191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Methods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1535400" y="824040"/>
            <a:ext cx="8980200" cy="42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Python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Feature selection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Visualization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Statistical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learning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Supervised learning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Use different ML evaluation metrics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Use ML Interpretation tools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3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4"/>
          <p:cNvSpPr/>
          <p:nvPr/>
        </p:nvSpPr>
        <p:spPr>
          <a:xfrm>
            <a:off x="0" y="16272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Accomplishments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380880" y="595080"/>
            <a:ext cx="9788040" cy="48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Visualization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Statistical Analysis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Learning, Dimensional Reduction, and Confusion Matrix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 Machine Learning Algorithms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Evaluation Metrics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 Multi-layer Perceptron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AI Interpretation Tools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4"/>
          <p:cNvSpPr/>
          <p:nvPr/>
        </p:nvSpPr>
        <p:spPr>
          <a:xfrm>
            <a:off x="0" y="162720"/>
            <a:ext cx="1219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Visualization &amp; Statistical Analysis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478800" y="1153800"/>
            <a:ext cx="14601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5" descr=""/>
          <p:cNvPicPr/>
          <p:nvPr/>
        </p:nvPicPr>
        <p:blipFill>
          <a:blip r:embed="rId1"/>
          <a:stretch/>
        </p:blipFill>
        <p:spPr>
          <a:xfrm>
            <a:off x="2692800" y="914400"/>
            <a:ext cx="2565000" cy="207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6" descr=""/>
          <p:cNvPicPr/>
          <p:nvPr/>
        </p:nvPicPr>
        <p:blipFill>
          <a:blip r:embed="rId2"/>
          <a:stretch/>
        </p:blipFill>
        <p:spPr>
          <a:xfrm>
            <a:off x="1656360" y="3238200"/>
            <a:ext cx="4058640" cy="316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10" descr=""/>
          <p:cNvPicPr/>
          <p:nvPr/>
        </p:nvPicPr>
        <p:blipFill>
          <a:blip r:embed="rId3"/>
          <a:stretch/>
        </p:blipFill>
        <p:spPr>
          <a:xfrm>
            <a:off x="62640" y="652356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1" descr=""/>
          <p:cNvPicPr/>
          <p:nvPr/>
        </p:nvPicPr>
        <p:blipFill>
          <a:blip r:embed="rId4"/>
          <a:stretch/>
        </p:blipFill>
        <p:spPr>
          <a:xfrm>
            <a:off x="7315200" y="685800"/>
            <a:ext cx="281916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2" descr=""/>
          <p:cNvPicPr/>
          <p:nvPr/>
        </p:nvPicPr>
        <p:blipFill>
          <a:blip r:embed="rId5"/>
          <a:stretch/>
        </p:blipFill>
        <p:spPr>
          <a:xfrm>
            <a:off x="7086600" y="4011840"/>
            <a:ext cx="3200400" cy="238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3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Box 4"/>
          <p:cNvSpPr/>
          <p:nvPr/>
        </p:nvSpPr>
        <p:spPr>
          <a:xfrm>
            <a:off x="0" y="12636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Explanation and Preprocessing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380880" y="1775880"/>
            <a:ext cx="8980200" cy="11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How to work withNumPyand Pandasdataframe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Normalization (zscore)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6" descr=""/>
          <p:cNvPicPr/>
          <p:nvPr/>
        </p:nvPicPr>
        <p:blipFill>
          <a:blip r:embed="rId2"/>
          <a:stretch/>
        </p:blipFill>
        <p:spPr>
          <a:xfrm>
            <a:off x="3754440" y="3335760"/>
            <a:ext cx="7772040" cy="313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4"/>
          <p:cNvSpPr/>
          <p:nvPr/>
        </p:nvSpPr>
        <p:spPr>
          <a:xfrm>
            <a:off x="360" y="126360"/>
            <a:ext cx="1219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Statistical Analysis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1958760" y="1427040"/>
            <a:ext cx="1841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Two-sample t-test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6" descr="A screenshot of a table&#10;&#10;AI-generated content may be incorrect."/>
          <p:cNvPicPr/>
          <p:nvPr/>
        </p:nvPicPr>
        <p:blipFill>
          <a:blip r:embed="rId1"/>
          <a:stretch/>
        </p:blipFill>
        <p:spPr>
          <a:xfrm>
            <a:off x="681480" y="1796400"/>
            <a:ext cx="4590000" cy="436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7"/>
          <p:cNvSpPr/>
          <p:nvPr/>
        </p:nvSpPr>
        <p:spPr>
          <a:xfrm>
            <a:off x="7107840" y="1288440"/>
            <a:ext cx="3213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Mann-Whitney U test and Multiple Hypothesis Test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Picture 9" descr="A table of numbers and letters&#10;&#10;AI-generated content may be incorrect."/>
          <p:cNvPicPr/>
          <p:nvPr/>
        </p:nvPicPr>
        <p:blipFill>
          <a:blip r:embed="rId2"/>
          <a:stretch/>
        </p:blipFill>
        <p:spPr>
          <a:xfrm>
            <a:off x="5380560" y="2076120"/>
            <a:ext cx="6668640" cy="400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4"/>
          <p:cNvSpPr/>
          <p:nvPr/>
        </p:nvSpPr>
        <p:spPr>
          <a:xfrm>
            <a:off x="360" y="126360"/>
            <a:ext cx="1219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Learning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6" descr=""/>
          <p:cNvPicPr/>
          <p:nvPr/>
        </p:nvPicPr>
        <p:blipFill>
          <a:blip r:embed="rId1"/>
          <a:stretch/>
        </p:blipFill>
        <p:spPr>
          <a:xfrm>
            <a:off x="1986480" y="1197720"/>
            <a:ext cx="7772040" cy="55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7"/>
          <p:cNvSpPr/>
          <p:nvPr/>
        </p:nvSpPr>
        <p:spPr>
          <a:xfrm>
            <a:off x="4477680" y="738360"/>
            <a:ext cx="3510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Principal Component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Picture 8" descr=""/>
          <p:cNvPicPr/>
          <p:nvPr/>
        </p:nvPicPr>
        <p:blipFill>
          <a:blip r:embed="rId2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4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5"/>
          <p:cNvSpPr/>
          <p:nvPr/>
        </p:nvSpPr>
        <p:spPr>
          <a:xfrm>
            <a:off x="224280" y="387360"/>
            <a:ext cx="2364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K-means Clustering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6" descr=""/>
          <p:cNvPicPr/>
          <p:nvPr/>
        </p:nvPicPr>
        <p:blipFill>
          <a:blip r:embed="rId2"/>
          <a:stretch/>
        </p:blipFill>
        <p:spPr>
          <a:xfrm>
            <a:off x="0" y="947520"/>
            <a:ext cx="3625920" cy="30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7" descr=""/>
          <p:cNvPicPr/>
          <p:nvPr/>
        </p:nvPicPr>
        <p:blipFill>
          <a:blip r:embed="rId3"/>
          <a:stretch/>
        </p:blipFill>
        <p:spPr>
          <a:xfrm>
            <a:off x="5078880" y="572040"/>
            <a:ext cx="4482720" cy="339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Box 8"/>
          <p:cNvSpPr/>
          <p:nvPr/>
        </p:nvSpPr>
        <p:spPr>
          <a:xfrm>
            <a:off x="5478840" y="252720"/>
            <a:ext cx="37749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Condusion Matrix of K-means clusters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5231160" y="3862800"/>
            <a:ext cx="3653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3"/>
          <p:cNvSpPr/>
          <p:nvPr/>
        </p:nvSpPr>
        <p:spPr>
          <a:xfrm>
            <a:off x="4301640" y="549720"/>
            <a:ext cx="392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K means &amp; Hierarchical Clustering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4" descr=""/>
          <p:cNvPicPr/>
          <p:nvPr/>
        </p:nvPicPr>
        <p:blipFill>
          <a:blip r:embed="rId1"/>
          <a:stretch/>
        </p:blipFill>
        <p:spPr>
          <a:xfrm>
            <a:off x="5486400" y="2286000"/>
            <a:ext cx="6172200" cy="261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6" descr=""/>
          <p:cNvPicPr/>
          <p:nvPr/>
        </p:nvPicPr>
        <p:blipFill>
          <a:blip r:embed="rId2"/>
          <a:stretch/>
        </p:blipFill>
        <p:spPr>
          <a:xfrm>
            <a:off x="8665920" y="632772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11" descr=""/>
          <p:cNvPicPr/>
          <p:nvPr/>
        </p:nvPicPr>
        <p:blipFill>
          <a:blip r:embed="rId3"/>
          <a:stretch/>
        </p:blipFill>
        <p:spPr>
          <a:xfrm>
            <a:off x="1143000" y="2286000"/>
            <a:ext cx="3625920" cy="309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3" descr=""/>
          <p:cNvPicPr/>
          <p:nvPr/>
        </p:nvPicPr>
        <p:blipFill>
          <a:blip r:embed="rId1"/>
          <a:stretch/>
        </p:blipFill>
        <p:spPr>
          <a:xfrm>
            <a:off x="380880" y="6136200"/>
            <a:ext cx="32508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360" y="126360"/>
            <a:ext cx="121914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 ML Classifiers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346320" y="955800"/>
            <a:ext cx="261612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Steps: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Create train-test split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Data Normalization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Model Training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Prediction on test set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Evaluation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1" name="Table 6"/>
          <p:cNvGraphicFramePr/>
          <p:nvPr/>
        </p:nvGraphicFramePr>
        <p:xfrm>
          <a:off x="3372120" y="1058400"/>
          <a:ext cx="8127720" cy="3674160"/>
        </p:xfrm>
        <a:graphic>
          <a:graphicData uri="http://schemas.openxmlformats.org/drawingml/2006/table">
            <a:tbl>
              <a:tblPr/>
              <a:tblGrid>
                <a:gridCol w="1625400"/>
                <a:gridCol w="1625400"/>
                <a:gridCol w="1625400"/>
                <a:gridCol w="1625400"/>
                <a:gridCol w="16254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Model Name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Accuracy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Precision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Recall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F1-Score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Dummy Model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0.68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K-Nearest Neighbors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0.47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0.28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0.35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Linear SVM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0.41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0.47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Kernel SVM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0.73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0.62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0.45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Random Forest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0.72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Logistic Regression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0.71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0.58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0.38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0.46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4"/>
          <p:cNvSpPr/>
          <p:nvPr/>
        </p:nvSpPr>
        <p:spPr>
          <a:xfrm>
            <a:off x="360" y="12636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Feature Selection Methods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457200" y="5020560"/>
            <a:ext cx="4624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Random Forest model performance reaches 80% accuracy with top 2 features!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Picture 7" descr=""/>
          <p:cNvPicPr/>
          <p:nvPr/>
        </p:nvPicPr>
        <p:blipFill>
          <a:blip r:embed="rId1"/>
          <a:stretch/>
        </p:blipFill>
        <p:spPr>
          <a:xfrm>
            <a:off x="2514960" y="740160"/>
            <a:ext cx="6629040" cy="36032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5" name=""/>
          <p:cNvGraphicFramePr/>
          <p:nvPr/>
        </p:nvGraphicFramePr>
        <p:xfrm>
          <a:off x="5717880" y="4618080"/>
          <a:ext cx="3914280" cy="1000440"/>
        </p:xfrm>
        <a:graphic>
          <a:graphicData uri="http://schemas.openxmlformats.org/drawingml/2006/table">
            <a:tbl>
              <a:tblPr/>
              <a:tblGrid>
                <a:gridCol w="1957320"/>
                <a:gridCol w="1956960"/>
              </a:tblGrid>
              <a:tr h="-1362240">
                <a:tc gridSpan="2">
                  <a:txBody>
                    <a:bodyPr lIns="36000" rIns="36000" tIns="36000" bIns="36000" anchor="t" anchorCtr="1">
                      <a:noAutofit/>
                    </a:bodyPr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Ejection </a:t>
                      </a: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Fraction, 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Serum </a:t>
                      </a: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Creatinine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rIns="36000" tIns="36000" bIns="36000" anchor="t" anchorCtr="1">
                      <a:noAutofit/>
                    </a:bodyPr>
                    <a:p>
                      <a:pPr algn="ctr"/>
                      <a:endParaRPr b="1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enlo"/>
                          <a:ea typeface="DejaVu Sans"/>
                        </a:rPr>
                        <a:t>Accuracy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enlo"/>
                          <a:ea typeface="DejaVu Sans"/>
                        </a:rPr>
                        <a:t>Precision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enlo"/>
                          <a:ea typeface="DejaVu Sans"/>
                        </a:rPr>
                        <a:t>Recall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Menlo"/>
                          <a:ea typeface="DejaVu Sans"/>
                        </a:rPr>
                        <a:t>F1-Score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4"/>
          <p:cNvSpPr/>
          <p:nvPr/>
        </p:nvSpPr>
        <p:spPr>
          <a:xfrm>
            <a:off x="360" y="12636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Deep Learning: Multi-layer Perceptron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4" descr=""/>
          <p:cNvPicPr/>
          <p:nvPr/>
        </p:nvPicPr>
        <p:blipFill>
          <a:blip r:embed="rId1"/>
          <a:stretch/>
        </p:blipFill>
        <p:spPr>
          <a:xfrm>
            <a:off x="1371600" y="831960"/>
            <a:ext cx="9448200" cy="443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6" descr=""/>
          <p:cNvPicPr/>
          <p:nvPr/>
        </p:nvPicPr>
        <p:blipFill>
          <a:blip r:embed="rId1"/>
          <a:stretch/>
        </p:blipFill>
        <p:spPr>
          <a:xfrm>
            <a:off x="2682000" y="767160"/>
            <a:ext cx="7170120" cy="596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Box 4"/>
          <p:cNvSpPr/>
          <p:nvPr/>
        </p:nvSpPr>
        <p:spPr>
          <a:xfrm>
            <a:off x="360" y="126360"/>
            <a:ext cx="1219140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AI Interpretation Tools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"/>
          <p:cNvSpPr/>
          <p:nvPr/>
        </p:nvSpPr>
        <p:spPr>
          <a:xfrm>
            <a:off x="6413760" y="4322880"/>
            <a:ext cx="4187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PLSDA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3" descr=""/>
          <p:cNvPicPr/>
          <p:nvPr/>
        </p:nvPicPr>
        <p:blipFill>
          <a:blip r:embed="rId1"/>
          <a:stretch/>
        </p:blipFill>
        <p:spPr>
          <a:xfrm>
            <a:off x="1879200" y="1441080"/>
            <a:ext cx="7772040" cy="49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4"/>
          <p:cNvSpPr/>
          <p:nvPr/>
        </p:nvSpPr>
        <p:spPr>
          <a:xfrm>
            <a:off x="180360" y="283320"/>
            <a:ext cx="4187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SHAP on Random Forest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4571280" y="805320"/>
            <a:ext cx="2162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Survived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6095880" y="805320"/>
            <a:ext cx="2162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Died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5" name="Straight Arrow Connector 8"/>
          <p:cNvCxnSpPr/>
          <p:nvPr/>
        </p:nvCxnSpPr>
        <p:spPr>
          <a:xfrm>
            <a:off x="6348240" y="1441080"/>
            <a:ext cx="1211760" cy="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216" name="Straight Arrow Connector 9"/>
          <p:cNvCxnSpPr/>
          <p:nvPr/>
        </p:nvCxnSpPr>
        <p:spPr>
          <a:xfrm flipH="1">
            <a:off x="5046480" y="1441080"/>
            <a:ext cx="1211760" cy="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4"/>
          <p:cNvSpPr/>
          <p:nvPr/>
        </p:nvSpPr>
        <p:spPr>
          <a:xfrm>
            <a:off x="180360" y="283320"/>
            <a:ext cx="4187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SHAP on MLP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4" descr=""/>
          <p:cNvPicPr/>
          <p:nvPr/>
        </p:nvPicPr>
        <p:blipFill>
          <a:blip r:embed="rId1"/>
          <a:stretch/>
        </p:blipFill>
        <p:spPr>
          <a:xfrm>
            <a:off x="2090880" y="1263960"/>
            <a:ext cx="7772040" cy="49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Box 4"/>
          <p:cNvSpPr/>
          <p:nvPr/>
        </p:nvSpPr>
        <p:spPr>
          <a:xfrm>
            <a:off x="4764240" y="634320"/>
            <a:ext cx="2162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Survived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6289200" y="634320"/>
            <a:ext cx="216216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Died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Straight Arrow Connector 7"/>
          <p:cNvCxnSpPr/>
          <p:nvPr/>
        </p:nvCxnSpPr>
        <p:spPr>
          <a:xfrm>
            <a:off x="6541200" y="1269720"/>
            <a:ext cx="1212120" cy="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222" name="Straight Arrow Connector 8"/>
          <p:cNvCxnSpPr/>
          <p:nvPr/>
        </p:nvCxnSpPr>
        <p:spPr>
          <a:xfrm flipH="1">
            <a:off x="5239440" y="1269720"/>
            <a:ext cx="1212120" cy="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Conclusion</a:t>
            </a:r>
            <a:endParaRPr b="1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From multiple analysis two features identified as the most important predictors for survival event in heart failure patients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(Ejection Fraction, Serum Creatinine)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Smoking and gender identity contribute less to the event.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 simple model (Random Forest) performed better than complex Deep Learning models,  due to the limited size of samples.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 txBox="1"/>
          <p:nvPr/>
        </p:nvSpPr>
        <p:spPr>
          <a:xfrm>
            <a:off x="228600" y="1509120"/>
            <a:ext cx="10515600" cy="30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Chicco, D., Jurman, G. Machine learning can predict survival of patients with heart failure from serum creatinine and ejection fraction alone. BMC Med Inform Decis Mak 20, 16 (2020). https://doi.org/10.1186/s12911-020-1023-5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886200" y="457200"/>
            <a:ext cx="10515600" cy="30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References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93000" y="2971800"/>
            <a:ext cx="979200" cy="97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3"/>
          <a:stretch/>
        </p:blipFill>
        <p:spPr>
          <a:xfrm>
            <a:off x="4800600" y="4296240"/>
            <a:ext cx="165312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1828800" y="6282720"/>
            <a:ext cx="826056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MichiganDataScienceTeam/W26-MDST-Project_Heart-Failure-Survival-Analysis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4132</TotalTime>
  <Application>LibreOffice/25.2.3.2$Linux_X86_64 LibreOffice_project/520$Build-2</Application>
  <AppVersion>15.0000</AppVersion>
  <Words>568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2024-06-04T18:45:39Z</dcterms:created>
  <dc:creator>Thomas, Jennifer</dc:creator>
  <dc:description/>
  <dc:language>en-US</dc:language>
  <cp:lastModifiedBy/>
  <dcterms:modified xsi:type="dcterms:W3CDTF">2026-04-12T13:19:00Z</dcterms:modified>
  <cp:revision>81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19</vt:i4>
  </property>
</Properties>
</file>