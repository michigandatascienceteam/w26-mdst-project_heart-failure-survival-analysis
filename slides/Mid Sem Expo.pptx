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9" r:id="rId4"/>
    <p:sldId id="260" r:id="rId5"/>
    <p:sldId id="263" r:id="rId6"/>
    <p:sldId id="267" r:id="rId7"/>
    <p:sldId id="261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2"/>
    <p:restoredTop sz="94796"/>
  </p:normalViewPr>
  <p:slideViewPr>
    <p:cSldViewPr snapToGrid="0">
      <p:cViewPr varScale="1">
        <p:scale>
          <a:sx n="92" d="100"/>
          <a:sy n="92" d="100"/>
        </p:scale>
        <p:origin x="1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E66A602-0576-4A67-ACE9-68A0672A8B06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Ejection fraction: is the percentage of blood that heart pumps out. 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Low oxygen blood from body </a:t>
            </a:r>
            <a:r>
              <a:rPr lang="en-US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right atrium </a:t>
            </a:r>
            <a:r>
              <a:rPr lang="en-US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right ventricle </a:t>
            </a:r>
            <a:r>
              <a:rPr lang="en-US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lung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High oxygen blood from lung </a:t>
            </a:r>
            <a:r>
              <a:rPr lang="en-US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left atrium </a:t>
            </a:r>
            <a:r>
              <a:rPr lang="en-US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left ventricle </a:t>
            </a:r>
            <a:r>
              <a:rPr lang="en-US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body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BAC92C-B873-4BCA-AE55-745F7AE127F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CPK enzyme</a:t>
            </a:r>
          </a:p>
        </p:txBody>
      </p:sp>
      <p:sp>
        <p:nvSpPr>
          <p:cNvPr id="1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41E891-767C-43DD-962B-A2ECC151389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A0BBE7-545B-47AC-ABD2-D2DC74F4AA8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30D35A1-88D0-46D7-BE76-8B2C4E4C321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5B5C34A-F0C1-41A7-B888-B8CACF8E31D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4EBD56A-ACE3-41B2-9131-1E14AA07398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50C870B-D592-4FC3-AE9D-B855B27A9F2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C3DADE3-9D50-4DA2-9BF1-66674B5ADF0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7BE481E-6EB4-4A81-94AF-F9FEE268644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FA44C93-601B-4FD5-81FC-CEA21939F97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8C413B7-F99E-4AF6-8141-B6BED23D0AF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3E4927-B311-4E12-9387-A9901292F80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B08C42E-4F87-40BC-ADC1-185A371B4AE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A39B926-0818-4C22-ACE3-79FDE4C72188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0FD3996-741D-4926-A616-56B42452671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174B9C9-2909-4EFD-B382-598D5431988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6C74CA-E3BB-40E5-99A1-A5DCCCD6491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19DCEA2-A05B-442C-95AF-900BFB5631B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8C51CFA-F9D9-4463-83CC-496EBB3EA58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2970D64-C5DD-4D67-9422-166AD1F1455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2DEEE71-CC57-40F1-9347-673FE548E19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E67E0FD-83A4-4F50-86FF-9931DDF25B6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B9B6BC6-3784-4E79-9CF0-34F84E65121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0C3F60F-5699-4BB9-8CD7-E3338E894FA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2E96D25-126D-42F1-94B2-F56BA2941FF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E3F6E29-3FB2-41BD-A36D-AF948850F744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87878"/>
                </a:solidFill>
                <a:latin typeface="Aptos"/>
              </a:rPr>
              <a:t> 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ABF5EB-9C43-4146-B7DD-96CF3AEEEEB7}" type="slidenum">
              <a:rPr lang="en-US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ptos"/>
              </a:rPr>
              <a:t>Click to edit Master text styles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ptos"/>
              </a:rPr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ptos"/>
              </a:rPr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ptos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87878"/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6FC2E0-F05F-4DE2-9863-35C6E67E36F4}" type="slidenum">
              <a:rPr lang="en-US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D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"/>
          <p:cNvSpPr/>
          <p:nvPr/>
        </p:nvSpPr>
        <p:spPr>
          <a:xfrm>
            <a:off x="0" y="5772960"/>
            <a:ext cx="12191760" cy="108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pic>
        <p:nvPicPr>
          <p:cNvPr id="89" name="Picture 4"/>
          <p:cNvPicPr/>
          <p:nvPr/>
        </p:nvPicPr>
        <p:blipFill>
          <a:blip r:embed="rId2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3880" y="22352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Heart Failure Survival Analysis</a:t>
            </a:r>
            <a:br>
              <a:rPr sz="4000" dirty="0"/>
            </a:br>
            <a:br>
              <a:rPr sz="3200" dirty="0"/>
            </a:br>
            <a:br>
              <a:rPr sz="3200" dirty="0"/>
            </a:br>
            <a:br>
              <a:rPr sz="3200" dirty="0"/>
            </a:b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2026 Michigan Data Science Team Project</a:t>
            </a:r>
            <a:br>
              <a:rPr sz="2400" dirty="0"/>
            </a:br>
            <a:br>
              <a:rPr sz="2400" dirty="0"/>
            </a:b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Sina Bonakdar</a:t>
            </a:r>
            <a:br>
              <a:rPr sz="2400" dirty="0"/>
            </a:br>
            <a:r>
              <a:rPr lang="en-US" sz="2400" b="0" strike="noStrike" spc="-1" dirty="0" err="1">
                <a:solidFill>
                  <a:srgbClr val="000000"/>
                </a:solidFill>
                <a:latin typeface="Times New Roman"/>
              </a:rPr>
              <a:t>Honghao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Zhang</a:t>
            </a:r>
            <a:br>
              <a:rPr sz="3200" dirty="0"/>
            </a:br>
            <a:endParaRPr lang="en-US" sz="2400" b="0" strike="noStrike" spc="-1" dirty="0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6"/>
          <p:cNvPicPr/>
          <p:nvPr/>
        </p:nvPicPr>
        <p:blipFill>
          <a:blip r:embed="rId3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107" name="TextBox 8"/>
          <p:cNvSpPr/>
          <p:nvPr/>
        </p:nvSpPr>
        <p:spPr>
          <a:xfrm>
            <a:off x="0" y="155880"/>
            <a:ext cx="121917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Heart Failure Survival Analysis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118680" y="894780"/>
            <a:ext cx="875844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What is Heart Failure?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When the heart cannot pump sufficient blood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Not all heart failures lead to death.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Two types of heart failure: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Reduced ejection fraction (&lt;40% ejection fraction), indicating ineffective heart contraction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Preserved ejection fraction (left ventricle is stiff and cannot relax and fill properly)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Goal: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a) Use machine learning and deep learning classifiers to predict survival event in heart failure patients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b) Identify the most critical parameters affecting survival</a:t>
            </a:r>
            <a:r>
              <a:rPr lang="en-US" sz="1800" b="0" strike="noStrike" spc="-1" dirty="0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provide insights to physicians to tailor treatments more effectively and reduce mortality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" name="Straight Arrow Connector 2"/>
          <p:cNvCxnSpPr/>
          <p:nvPr/>
        </p:nvCxnSpPr>
        <p:spPr>
          <a:xfrm flipH="1">
            <a:off x="8274840" y="2761598"/>
            <a:ext cx="602280" cy="36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</p:cxnSp>
      <p:sp>
        <p:nvSpPr>
          <p:cNvPr id="110" name="TextBox 3"/>
          <p:cNvSpPr/>
          <p:nvPr/>
        </p:nvSpPr>
        <p:spPr>
          <a:xfrm>
            <a:off x="8877120" y="2579618"/>
            <a:ext cx="1170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0000"/>
                </a:solidFill>
                <a:latin typeface="Times New Roman"/>
              </a:rPr>
              <a:t>Our focus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4"/>
          <p:cNvPicPr/>
          <p:nvPr/>
        </p:nvPicPr>
        <p:blipFill>
          <a:blip r:embed="rId4"/>
          <a:stretch/>
        </p:blipFill>
        <p:spPr>
          <a:xfrm>
            <a:off x="8750520" y="3539520"/>
            <a:ext cx="3322800" cy="3322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3"/>
          <p:cNvPicPr/>
          <p:nvPr/>
        </p:nvPicPr>
        <p:blipFill>
          <a:blip r:embed="rId3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113" name="TextBox 4"/>
          <p:cNvSpPr/>
          <p:nvPr/>
        </p:nvSpPr>
        <p:spPr>
          <a:xfrm>
            <a:off x="0" y="155880"/>
            <a:ext cx="1219176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</a:rPr>
              <a:t>Dataset description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474119" y="1213920"/>
            <a:ext cx="10263153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299 heart failure patients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Demographic, lifestyle factors, and critical health indicators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Both Binary and Continuous variables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feature: “death event” tracks patient survival in 130 days</a:t>
            </a:r>
          </a:p>
        </p:txBody>
      </p:sp>
      <p:graphicFrame>
        <p:nvGraphicFramePr>
          <p:cNvPr id="115" name="Table 6"/>
          <p:cNvGraphicFramePr/>
          <p:nvPr/>
        </p:nvGraphicFramePr>
        <p:xfrm>
          <a:off x="3632400" y="3716640"/>
          <a:ext cx="8127360" cy="741600"/>
        </p:xfrm>
        <a:graphic>
          <a:graphicData uri="http://schemas.openxmlformats.org/drawingml/2006/table">
            <a:tbl>
              <a:tblPr/>
              <a:tblGrid>
                <a:gridCol w="4063680">
                  <a:extLst>
                    <a:ext uri="{9D8B030D-6E8A-4147-A177-3AD203B41FA5}">
                      <ns3:colId val="20000"/>
                    </a:ext>
                  </a:extLst>
                </a:gridCol>
                <a:gridCol w="4063680">
                  <a:extLst>
                    <a:ext uri="{9D8B030D-6E8A-4147-A177-3AD203B41FA5}">
                      <ns3:colId val="20001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lt1"/>
                          </a:solidFill>
                          <a:latin typeface="Arial"/>
                        </a:rPr>
                        <a:t>Survived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chemeClr val="lt1"/>
                          </a:solidFill>
                          <a:latin typeface="Arial"/>
                        </a:rPr>
                        <a:t>Died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chemeClr val="dk1"/>
                          </a:solidFill>
                          <a:latin typeface="Arial"/>
                        </a:rPr>
                        <a:t>203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chemeClr val="dk1"/>
                          </a:solidFill>
                          <a:latin typeface="Arial"/>
                        </a:rPr>
                        <a:t>96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ns2:creationId id="{BBC964ED-A24E-60C6-667F-DED39A165BAD}"/>
              </a:ext>
            </a:extLst>
          </p:cNvPr>
          <p:cNvSpPr/>
          <p:nvPr/>
        </p:nvSpPr>
        <p:spPr>
          <a:xfrm>
            <a:off x="0" y="155880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</a:rPr>
              <a:t>Feature Explanations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ns2:creationId id="{791268D2-06CB-7B2B-BBD5-06EBE38B9DFD}"/>
              </a:ext>
            </a:extLst>
          </p:cNvPr>
          <p:cNvSpPr/>
          <p:nvPr/>
        </p:nvSpPr>
        <p:spPr>
          <a:xfrm>
            <a:off x="474120" y="1213920"/>
            <a:ext cx="10387168" cy="50768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Anemia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Deficiency of red blood cells (&lt;36%)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Creatinine Phosphokinase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Enzyme levels that increase when muscle tissue is damaged. High levels may indicate heart failure or injury.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Ejection Fraction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the percentage of how much blood the left ventricle pumps out with each contraction.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Serum creatinine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waste product generated by creatine, when a muscle breaks down. Especially, doctors focus on serum creatinine in blood to check kidney function. If a patient has high levels of serum creatinine, it may indicate renal dysfunction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Serum sodium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mineral that serves for the correct functioning of muscles and nerves. The serum sodium test is a routine blood exam that indicates if a patient has normal levels of sodium in the blood. An abnormally low level of sodium in the blood might be caused by heart failure.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age of the patient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Sex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woman (0) or man (1)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number of Follow-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times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oking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if the patient smokes (1), if not (0)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Platelets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number of platelets in the blood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blood pressure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Yes (1), no (0)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Yes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(1), no (0)</a:t>
            </a:r>
            <a:endParaRPr lang="en-US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3:creationId val="41138306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ns2:creationId id="{737AA316-9D85-C268-A696-D86634B7E183}"/>
              </a:ext>
            </a:extLst>
          </p:cNvPr>
          <p:cNvSpPr/>
          <p:nvPr/>
        </p:nvSpPr>
        <p:spPr>
          <a:xfrm>
            <a:off x="0" y="155880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</a:rPr>
              <a:t>Feature Explanations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 descr="A screenshot of a medical report&#10;&#10;AI-generated content may be incorrect.">
            <a:extLst>
              <a:ext uri="{FF2B5EF4-FFF2-40B4-BE49-F238E27FC236}">
                <ns2:creationId id="{40D53318-27AE-F7F9-889F-5E0F6EAE1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2209800" y="850900"/>
            <a:ext cx="7772400" cy="5156200"/>
          </a:xfrm>
          <a:prstGeom prst="rect">
            <a:avLst/>
          </a:prstGeom>
        </p:spPr>
      </p:pic>
    </p:spTree>
    <p:extLst>
      <p:ext uri="{BB962C8B-B14F-4D97-AF65-F5344CB8AC3E}">
        <ns5:creationId val="219207962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3"/>
          <p:cNvPicPr/>
          <p:nvPr/>
        </p:nvPicPr>
        <p:blipFill>
          <a:blip r:embed="rId2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117" name="TextBox 4"/>
          <p:cNvSpPr/>
          <p:nvPr/>
        </p:nvSpPr>
        <p:spPr>
          <a:xfrm>
            <a:off x="240" y="129240"/>
            <a:ext cx="1219176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</a:rPr>
              <a:t>Methods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474120" y="820080"/>
            <a:ext cx="8980560" cy="50768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Python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imes New Roman"/>
              </a:rPr>
              <a:t>Numpy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, Pandas, SciPy, Scikit-learn, Matplotlib, Seaborn,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imes New Roman"/>
              </a:rPr>
              <a:t>PyTorch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, TensorFlow)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Data preprocessing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Feature selection (e.g., Elastic Network, MRMR)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Data Visualization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Statistical Analysis (e.g. correlation, significance test)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Unsupervised learning to uncover data structures (e.g. PCA, k-means)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Supervised learning classifiers will be used for Binary classification (e.g. random forest, logistic regression, SVMs,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imes New Roman"/>
              </a:rPr>
              <a:t>XGBoost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, Neural Network)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Use different evaluation metrics for evaluation of ML models (e.g. F1, AUC, Accuracy)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pc="-1" dirty="0">
              <a:solidFill>
                <a:srgbClr val="000000"/>
              </a:solidFill>
              <a:latin typeface="Times New Roman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Use ML Interpretation tools to interpret from our predictions (SHAP, PLSDA)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ns2:creationId id="{3906325C-1F00-411F-F856-74F18ADDA75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7" name="TextBox 4">
            <a:extLst>
              <a:ext uri="{FF2B5EF4-FFF2-40B4-BE49-F238E27FC236}">
                <ns2:creationId id="{F8CB3526-0425-FC53-D034-1CFB4484B94F}"/>
              </a:ext>
            </a:extLst>
          </p:cNvPr>
          <p:cNvSpPr/>
          <p:nvPr/>
        </p:nvSpPr>
        <p:spPr>
          <a:xfrm>
            <a:off x="0" y="162720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pc="-1" dirty="0">
                <a:solidFill>
                  <a:srgbClr val="000000"/>
                </a:solidFill>
                <a:latin typeface="Times New Roman"/>
              </a:rPr>
              <a:t>Accomplishments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5">
            <a:extLst>
              <a:ext uri="{FF2B5EF4-FFF2-40B4-BE49-F238E27FC236}">
                <ns2:creationId id="{4994B655-6FA6-1732-1E79-1CA12246AC0B}"/>
              </a:ext>
            </a:extLst>
          </p:cNvPr>
          <p:cNvSpPr/>
          <p:nvPr/>
        </p:nvSpPr>
        <p:spPr>
          <a:xfrm>
            <a:off x="380880" y="1776043"/>
            <a:ext cx="9788356" cy="4153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840" indent="-285840"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Explanation and Preprocessing</a:t>
            </a:r>
          </a:p>
          <a:p>
            <a:pPr>
              <a:lnSpc>
                <a:spcPct val="100000"/>
              </a:lnSpc>
              <a:buClr>
                <a:srgbClr val="000000"/>
              </a:buClr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Learning, Dimensional Reduction, and Confusion Matrix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Simple Machine Learning Algorithms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4:creationId val="278167177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ns2:creationId id="{C78DD361-BAEE-808A-243E-D374C4E78425}"/>
              </a:ext>
            </a:extLst>
          </p:cNvPr>
          <p:cNvSpPr/>
          <p:nvPr/>
        </p:nvSpPr>
        <p:spPr>
          <a:xfrm>
            <a:off x="0" y="162720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BB4BA19C-B6DD-8664-40E1-0AF7D09DBD51}"/>
              </a:ext>
            </a:extLst>
          </p:cNvPr>
          <p:cNvSpPr txBox="1"/>
          <p:nvPr/>
        </p:nvSpPr>
        <p:spPr>
          <a:xfrm>
            <a:off x="478971" y="1153886"/>
            <a:ext cx="1460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</p:txBody>
      </p:sp>
      <p:pic>
        <p:nvPicPr>
          <p:cNvPr id="6" name="Picture 5">
            <a:extLst>
              <a:ext uri="{FF2B5EF4-FFF2-40B4-BE49-F238E27FC236}">
                <ns2:creationId id="{F930B077-6032-198E-320B-9EC0AA507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56" y="844880"/>
            <a:ext cx="2565400" cy="2076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ns2:creationId id="{2C9C2AB1-2276-4F39-5F31-71FDC0E4F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1" y="3390730"/>
            <a:ext cx="4058914" cy="31628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ns2:creationId id="{B5C3573C-F675-989B-3C32-D27AFDA32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148" y="1603821"/>
            <a:ext cx="6987297" cy="38456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ns2:creationId id="{E6EC1FC3-9790-CF4C-310F-DCE5893854F2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2708" y="6523560"/>
            <a:ext cx="3251160" cy="3344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ns4:creationId val="401308648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ns2:creationId id="{2486F1A8-9589-AC47-55BF-60B9E029597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ns2:creationId id="{9A472765-1F2F-7186-66AC-F438F7D362BE}"/>
              </a:ext>
            </a:extLst>
          </p:cNvPr>
          <p:cNvSpPr/>
          <p:nvPr/>
        </p:nvSpPr>
        <p:spPr>
          <a:xfrm>
            <a:off x="0" y="126477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Explanation and Preprocessing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31FDDEB0-F436-19AB-9347-62F149020E08}"/>
              </a:ext>
            </a:extLst>
          </p:cNvPr>
          <p:cNvSpPr/>
          <p:nvPr/>
        </p:nvSpPr>
        <p:spPr>
          <a:xfrm>
            <a:off x="380880" y="1776043"/>
            <a:ext cx="898056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work with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Pandas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zscore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ns2:creationId id="{6F5EFE68-50F8-EB4B-A5D6-A28ACF932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582" y="3335668"/>
            <a:ext cx="7772400" cy="3134972"/>
          </a:xfrm>
          <a:prstGeom prst="rect">
            <a:avLst/>
          </a:prstGeom>
        </p:spPr>
      </p:pic>
    </p:spTree>
    <p:extLst>
      <p:ext uri="{BB962C8B-B14F-4D97-AF65-F5344CB8AC3E}">
        <ns4:creationId val="1156944145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ns2:creationId id="{DD1DA551-9A65-0ACF-F22D-5F03A63ED80B}"/>
              </a:ext>
            </a:extLst>
          </p:cNvPr>
          <p:cNvSpPr/>
          <p:nvPr/>
        </p:nvSpPr>
        <p:spPr>
          <a:xfrm>
            <a:off x="240" y="126477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CAA38EA8-2C4A-8629-D9C3-28D62959D9C3}"/>
              </a:ext>
            </a:extLst>
          </p:cNvPr>
          <p:cNvSpPr txBox="1"/>
          <p:nvPr/>
        </p:nvSpPr>
        <p:spPr>
          <a:xfrm>
            <a:off x="942109" y="1233055"/>
            <a:ext cx="2852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features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ns2:creationId id="{F31DBBDA-5F95-F6B5-C347-E8278AA00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7" y="1782405"/>
            <a:ext cx="3864207" cy="4073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ns2:creationId id="{B8C5EEBC-E23A-1D52-FD8D-218C3780F0DC}"/>
              </a:ext>
            </a:extLst>
          </p:cNvPr>
          <p:cNvSpPr txBox="1"/>
          <p:nvPr/>
        </p:nvSpPr>
        <p:spPr>
          <a:xfrm>
            <a:off x="7204349" y="1233055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with the output</a:t>
            </a:r>
          </a:p>
        </p:txBody>
      </p:sp>
      <p:pic>
        <p:nvPicPr>
          <p:cNvPr id="9" name="Picture 8">
            <a:extLst>
              <a:ext uri="{FF2B5EF4-FFF2-40B4-BE49-F238E27FC236}">
                <ns2:creationId id="{B561C098-4893-46FC-95D3-25CD4E7F9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069" y="1692396"/>
            <a:ext cx="5477164" cy="4088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ns2:creationId id="{6C8485CC-8102-49B4-B069-411E0387740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ns4:creationId val="3963058444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ns2:creationId id="{A5733C39-E375-DFB1-3E3F-20C7C9E59D0D}"/>
              </a:ext>
            </a:extLst>
          </p:cNvPr>
          <p:cNvSpPr/>
          <p:nvPr/>
        </p:nvSpPr>
        <p:spPr>
          <a:xfrm>
            <a:off x="240" y="126477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from SciPy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F9909725-A656-0928-1937-5C927C4EF43E}"/>
              </a:ext>
            </a:extLst>
          </p:cNvPr>
          <p:cNvSpPr txBox="1"/>
          <p:nvPr/>
        </p:nvSpPr>
        <p:spPr>
          <a:xfrm>
            <a:off x="1958835" y="1427018"/>
            <a:ext cx="1842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Two-sample t-test</a:t>
            </a:r>
          </a:p>
        </p:txBody>
      </p:sp>
      <p:pic>
        <p:nvPicPr>
          <p:cNvPr id="7" name="Picture 6" descr="A screenshot of a table&#10;&#10;AI-generated content may be incorrect.">
            <a:extLst>
              <a:ext uri="{FF2B5EF4-FFF2-40B4-BE49-F238E27FC236}">
                <ns2:creationId id="{446499CF-8055-BE7D-2710-7ECD072FF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681478" y="1796350"/>
            <a:ext cx="4590282" cy="4368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ns2:creationId id="{108BCB43-FAF1-393B-B3BC-8E996F49E27D}"/>
              </a:ext>
            </a:extLst>
          </p:cNvPr>
          <p:cNvSpPr txBox="1"/>
          <p:nvPr/>
        </p:nvSpPr>
        <p:spPr>
          <a:xfrm>
            <a:off x="7107786" y="1288518"/>
            <a:ext cx="321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Mann-Whitney U test and Multiple Hypothesis Test</a:t>
            </a:r>
          </a:p>
        </p:txBody>
      </p:sp>
      <p:pic>
        <p:nvPicPr>
          <p:cNvPr id="10" name="Picture 9" descr="A table of numbers and letters&#10;&#10;AI-generated content may be incorrect.">
            <a:extLst>
              <a:ext uri="{FF2B5EF4-FFF2-40B4-BE49-F238E27FC236}">
                <ns2:creationId id="{2FD9B7A8-6B3D-BDEF-829E-BA4B3DDCA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380478" y="2075991"/>
            <a:ext cx="6668872" cy="4001323"/>
          </a:xfrm>
          <a:prstGeom prst="rect">
            <a:avLst/>
          </a:prstGeom>
        </p:spPr>
      </p:pic>
    </p:spTree>
    <p:extLst>
      <p:ext uri="{BB962C8B-B14F-4D97-AF65-F5344CB8AC3E}">
        <ns5:creationId val="1742820446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ns2:creationId id="{CFB08EE3-6072-8216-5AAE-049EFE90A40B}"/>
              </a:ext>
            </a:extLst>
          </p:cNvPr>
          <p:cNvSpPr/>
          <p:nvPr/>
        </p:nvSpPr>
        <p:spPr>
          <a:xfrm>
            <a:off x="240" y="126477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Learning, Dimensional Reduction, and Confusion Matric</a:t>
            </a:r>
          </a:p>
        </p:txBody>
      </p:sp>
      <p:pic>
        <p:nvPicPr>
          <p:cNvPr id="7" name="Picture 6">
            <a:extLst>
              <a:ext uri="{FF2B5EF4-FFF2-40B4-BE49-F238E27FC236}">
                <ns2:creationId id="{ABFB35BD-1C56-8F3A-A6C8-570F4826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70" y="1197574"/>
            <a:ext cx="7772400" cy="5533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ns2:creationId id="{E158F1C1-C9BE-989A-761F-1E2D5C98BC4C}"/>
              </a:ext>
            </a:extLst>
          </p:cNvPr>
          <p:cNvSpPr txBox="1"/>
          <p:nvPr/>
        </p:nvSpPr>
        <p:spPr>
          <a:xfrm>
            <a:off x="4477576" y="738242"/>
            <a:ext cx="3510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Principal Component Analysis</a:t>
            </a:r>
          </a:p>
        </p:txBody>
      </p:sp>
      <p:pic>
        <p:nvPicPr>
          <p:cNvPr id="9" name="Picture 8">
            <a:extLst>
              <a:ext uri="{FF2B5EF4-FFF2-40B4-BE49-F238E27FC236}">
                <ns2:creationId id="{1FC76B1E-5591-4604-4695-555955531E0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ns4:creationId val="150878960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id="{41A308ED-6AD0-FF37-20D3-88635E080FF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ns2:creationId id="{12665E70-5DDA-3CBC-ED70-06CF78D8D027}"/>
              </a:ext>
            </a:extLst>
          </p:cNvPr>
          <p:cNvSpPr txBox="1"/>
          <p:nvPr/>
        </p:nvSpPr>
        <p:spPr>
          <a:xfrm>
            <a:off x="224231" y="387360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K-means Clustering</a:t>
            </a:r>
          </a:p>
        </p:txBody>
      </p:sp>
      <p:pic>
        <p:nvPicPr>
          <p:cNvPr id="7" name="Picture 6">
            <a:extLst>
              <a:ext uri="{FF2B5EF4-FFF2-40B4-BE49-F238E27FC236}">
                <ns2:creationId id="{A7C4F3CC-326B-FE2D-8EA2-0B03CC467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7581"/>
            <a:ext cx="3626362" cy="3099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ns2:creationId id="{992E6546-3AEE-753C-3589-B2BF59F5F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846" y="572026"/>
            <a:ext cx="4483100" cy="3390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ns2:creationId id="{A01D6ADB-1DF2-177A-BACD-04EA84BA9BC4}"/>
              </a:ext>
            </a:extLst>
          </p:cNvPr>
          <p:cNvSpPr txBox="1"/>
          <p:nvPr/>
        </p:nvSpPr>
        <p:spPr>
          <a:xfrm>
            <a:off x="5478777" y="252722"/>
            <a:ext cx="377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Condusion Matrix of K-means clusters</a:t>
            </a:r>
          </a:p>
        </p:txBody>
      </p:sp>
      <p:sp>
        <p:nvSpPr>
          <p:cNvPr id="10" name="TextBox 9">
            <a:extLst>
              <a:ext uri="{FF2B5EF4-FFF2-40B4-BE49-F238E27FC236}">
                <ns2:creationId id="{B9B63F07-2D89-7083-0B6B-BB0455C4C006}"/>
              </a:ext>
            </a:extLst>
          </p:cNvPr>
          <p:cNvSpPr txBox="1"/>
          <p:nvPr/>
        </p:nvSpPr>
        <p:spPr>
          <a:xfrm>
            <a:off x="5231246" y="3862870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 the optimal K-value?</a:t>
            </a:r>
          </a:p>
        </p:txBody>
      </p:sp>
      <p:pic>
        <p:nvPicPr>
          <p:cNvPr id="11" name="Picture 10">
            <a:extLst>
              <a:ext uri="{FF2B5EF4-FFF2-40B4-BE49-F238E27FC236}">
                <ns2:creationId id="{D8B012BC-AE98-EFA3-37DE-DC6F2F847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720" y="4232202"/>
            <a:ext cx="7772400" cy="2542373"/>
          </a:xfrm>
          <a:prstGeom prst="rect">
            <a:avLst/>
          </a:prstGeom>
        </p:spPr>
      </p:pic>
    </p:spTree>
    <p:extLst>
      <p:ext uri="{BB962C8B-B14F-4D97-AF65-F5344CB8AC3E}">
        <ns4:creationId val="806456524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ns2:creationId id="{A6E9E3DA-DF54-E095-FBBE-2A0236324D85}"/>
              </a:ext>
            </a:extLst>
          </p:cNvPr>
          <p:cNvSpPr txBox="1"/>
          <p:nvPr/>
        </p:nvSpPr>
        <p:spPr>
          <a:xfrm>
            <a:off x="224231" y="387360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Hierarchical Clustering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D77E8084-842A-D07E-0DC8-284C3867A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964" y="133503"/>
            <a:ext cx="7772400" cy="3295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ns2:creationId id="{83F46165-E8A3-C9F3-53D6-A855E60DA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7" y="3164402"/>
            <a:ext cx="4091708" cy="3497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ns2:creationId id="{DCE0D971-A603-0C01-0248-CCB318484FC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665898" y="6327712"/>
            <a:ext cx="3251160" cy="3344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ns4:creationId val="422249021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ns2:creationId id="{C42BF500-5BA5-FC61-398A-3D13981AC69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ns2:creationId id="{45C25413-1EED-3E21-0C90-26900352DA9A}"/>
              </a:ext>
            </a:extLst>
          </p:cNvPr>
          <p:cNvSpPr/>
          <p:nvPr/>
        </p:nvSpPr>
        <p:spPr>
          <a:xfrm>
            <a:off x="240" y="126477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and Evaluation Metrics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9F77BF6E-ACDB-5877-CD59-FEEADB429886}"/>
              </a:ext>
            </a:extLst>
          </p:cNvPr>
          <p:cNvSpPr txBox="1"/>
          <p:nvPr/>
        </p:nvSpPr>
        <p:spPr>
          <a:xfrm>
            <a:off x="346364" y="955964"/>
            <a:ext cx="26164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train-test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on test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ns2:creationId id="{6D293ED9-BD53-808A-32FD-31250D579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4:modId val="2949774128"/>
              </p:ext>
            </p:extLst>
          </p:nvPr>
        </p:nvGraphicFramePr>
        <p:xfrm>
          <a:off x="3320473" y="1802497"/>
          <a:ext cx="81280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ns2:colId val="1479171188"/>
                    </a:ext>
                  </a:extLst>
                </a:gridCol>
                <a:gridCol w="1625600">
                  <a:extLst>
                    <a:ext uri="{9D8B030D-6E8A-4147-A177-3AD203B41FA5}">
                      <ns2:colId val="2868419691"/>
                    </a:ext>
                  </a:extLst>
                </a:gridCol>
                <a:gridCol w="1625600">
                  <a:extLst>
                    <a:ext uri="{9D8B030D-6E8A-4147-A177-3AD203B41FA5}">
                      <ns2:colId val="2636563834"/>
                    </a:ext>
                  </a:extLst>
                </a:gridCol>
                <a:gridCol w="1625600">
                  <a:extLst>
                    <a:ext uri="{9D8B030D-6E8A-4147-A177-3AD203B41FA5}">
                      <ns2:colId val="535304470"/>
                    </a:ext>
                  </a:extLst>
                </a:gridCol>
                <a:gridCol w="1625600">
                  <a:extLst>
                    <a:ext uri="{9D8B030D-6E8A-4147-A177-3AD203B41FA5}">
                      <ns2:colId val="2054876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93355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Dummy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ns2:rowId val="282102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K-Nearest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ns2:rowId val="303808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930978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Kernel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17028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ns2:rowId val="362024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</a:t>
                      </a:r>
                    </a:p>
                  </a:txBody>
                  <a:tcPr/>
                </a:tc>
                <a:extLst>
                  <a:ext uri="{0D108BD9-81ED-4DB2-BD59-A6C34878D82A}">
                    <ns2:rowId val="2577520662"/>
                  </a:ext>
                </a:extLst>
              </a:tr>
            </a:tbl>
          </a:graphicData>
        </a:graphic>
      </p:graphicFrame>
    </p:spTree>
    <p:extLst>
      <p:ext uri="{BB962C8B-B14F-4D97-AF65-F5344CB8AC3E}">
        <ns4:creationId val="600373833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ns2:creationId id="{72F762D2-6BDF-611B-9F79-4B74D916BE20}"/>
              </a:ext>
            </a:extLst>
          </p:cNvPr>
          <p:cNvSpPr/>
          <p:nvPr/>
        </p:nvSpPr>
        <p:spPr>
          <a:xfrm>
            <a:off x="240" y="126477"/>
            <a:ext cx="121917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5" name="TextBox 5">
            <a:extLst>
              <a:ext uri="{FF2B5EF4-FFF2-40B4-BE49-F238E27FC236}">
                <ns2:creationId id="{780CC862-B83B-FA8F-694C-72B116EBE044}"/>
              </a:ext>
            </a:extLst>
          </p:cNvPr>
          <p:cNvSpPr/>
          <p:nvPr/>
        </p:nvSpPr>
        <p:spPr>
          <a:xfrm>
            <a:off x="474120" y="820080"/>
            <a:ext cx="8980560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</a:t>
            </a:r>
          </a:p>
          <a:p>
            <a:pPr marL="743040" lvl="1" indent="-285840"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Optimization</a:t>
            </a:r>
          </a:p>
          <a:p>
            <a:pPr marL="743040" lvl="1" indent="-285840"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lvl="1">
              <a:buClr>
                <a:srgbClr val="000000"/>
              </a:buClr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and Deep learning</a:t>
            </a: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Interpretation</a:t>
            </a:r>
          </a:p>
          <a:p>
            <a:pPr marL="743040" lvl="1" indent="-285840"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</a:p>
          <a:p>
            <a:pPr marL="743040" lvl="1" indent="-285840"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PLS-DA</a:t>
            </a:r>
          </a:p>
        </p:txBody>
      </p:sp>
      <p:pic>
        <p:nvPicPr>
          <p:cNvPr id="6" name="Picture 5">
            <a:extLst>
              <a:ext uri="{FF2B5EF4-FFF2-40B4-BE49-F238E27FC236}">
                <ns2:creationId id="{6041E8C0-1DE7-56AE-84E3-8C2AB15FF92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80880" y="6136200"/>
            <a:ext cx="3251160" cy="3344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ns4:creationId val="1161654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4100</TotalTime>
  <Words>742</Words>
  <Application>Microsoft Macintosh PowerPoint</Application>
  <PresentationFormat>Widescreen</PresentationFormat>
  <Paragraphs>147</Paragraphs>
  <Slides>16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Heart Failure Survival Analysis    2026 Michigan Data Science Team Project  Sina Bonakdar Honghao Zhang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Thomas, Jennifer</dc:creator>
  <dc:description/>
  <cp:lastModifiedBy>Bonakdar, Sina</cp:lastModifiedBy>
  <cp:revision>72</cp:revision>
  <dcterms:created xsi:type="dcterms:W3CDTF">2024-06-04T18:45:39Z</dcterms:created>
  <dcterms:modified xsi:type="dcterms:W3CDTF">2026-02-17T15:47:35Z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