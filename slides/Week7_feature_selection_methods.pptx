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16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Helvetica" pitchFamily="2" charset="0"/>
              </a:rPr>
              <a:t>Feature Selection Methods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6516"/>
            <a:ext cx="8229600" cy="3494314"/>
          </a:xfrm>
        </p:spPr>
        <p:txBody>
          <a:bodyPr>
            <a:normAutofit fontScale="77500" lnSpcReduction="20000"/>
          </a:bodyPr>
          <a:lstStyle/>
          <a:p>
            <a:r>
              <a:rPr dirty="0">
                <a:latin typeface="Helvetica" pitchFamily="2" charset="0"/>
              </a:rPr>
              <a:t>Lasso, Ridge Regression, Elastic Net, and MRMR</a:t>
            </a:r>
          </a:p>
          <a:p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Purpose:</a:t>
            </a:r>
          </a:p>
          <a:p>
            <a:r>
              <a:rPr dirty="0">
                <a:latin typeface="Helvetica" pitchFamily="2" charset="0"/>
              </a:rPr>
              <a:t>• Select informative variables</a:t>
            </a:r>
          </a:p>
          <a:p>
            <a:r>
              <a:rPr dirty="0">
                <a:latin typeface="Helvetica" pitchFamily="2" charset="0"/>
              </a:rPr>
              <a:t>• Prevent overfitting</a:t>
            </a:r>
          </a:p>
          <a:p>
            <a:r>
              <a:rPr dirty="0">
                <a:latin typeface="Helvetica" pitchFamily="2" charset="0"/>
              </a:rPr>
              <a:t>• Improve interpretability and generalization</a:t>
            </a:r>
          </a:p>
          <a:p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Common in high‑dimensional datasets such as genomics </a:t>
            </a:r>
            <a:r>
              <a:rPr lang="en-US" dirty="0">
                <a:latin typeface="Helvetica" pitchFamily="2" charset="0"/>
              </a:rPr>
              <a:t>and biomedical </a:t>
            </a:r>
            <a:r>
              <a:rPr dirty="0">
                <a:latin typeface="Helvetica" pitchFamily="2" charset="0"/>
              </a:rPr>
              <a:t>studies.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Helvetica" pitchFamily="2" charset="0"/>
              </a:rPr>
              <a:t>Why Feature Selection?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88229"/>
          </a:xfrm>
        </p:spPr>
        <p:txBody>
          <a:bodyPr>
            <a:normAutofit fontScale="70000" lnSpcReduction="20000"/>
          </a:bodyPr>
          <a:lstStyle/>
          <a:p>
            <a:r>
              <a:rPr dirty="0">
                <a:latin typeface="Helvetica" pitchFamily="2" charset="0"/>
              </a:rPr>
              <a:t>Problems in high‑dimensional datasets:</a:t>
            </a:r>
          </a:p>
          <a:p>
            <a:r>
              <a:rPr dirty="0">
                <a:latin typeface="Helvetica" pitchFamily="2" charset="0"/>
              </a:rPr>
              <a:t>Large number of predictors (p)</a:t>
            </a:r>
          </a:p>
          <a:p>
            <a:r>
              <a:rPr dirty="0">
                <a:latin typeface="Helvetica" pitchFamily="2" charset="0"/>
              </a:rPr>
              <a:t>Multicollinearity</a:t>
            </a:r>
            <a:r>
              <a:rPr lang="en-US" dirty="0">
                <a:latin typeface="Helvetica" pitchFamily="2" charset="0"/>
              </a:rPr>
              <a:t>: Multiple features explain the same thing</a:t>
            </a:r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Overfitting</a:t>
            </a:r>
          </a:p>
          <a:p>
            <a:r>
              <a:rPr dirty="0">
                <a:latin typeface="Helvetica" pitchFamily="2" charset="0"/>
              </a:rPr>
              <a:t>Difficult model interpretation</a:t>
            </a:r>
          </a:p>
          <a:p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Goals:</a:t>
            </a:r>
          </a:p>
          <a:p>
            <a:r>
              <a:rPr dirty="0">
                <a:latin typeface="Helvetica" pitchFamily="2" charset="0"/>
              </a:rPr>
              <a:t>Reduce dimensionality</a:t>
            </a:r>
            <a:r>
              <a:rPr lang="en-US" dirty="0">
                <a:latin typeface="Helvetica" pitchFamily="2" charset="0"/>
              </a:rPr>
              <a:t> and generalizability of a model </a:t>
            </a:r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Improve prediction accuracy</a:t>
            </a:r>
          </a:p>
          <a:p>
            <a:r>
              <a:rPr dirty="0">
                <a:latin typeface="Helvetica" pitchFamily="2" charset="0"/>
              </a:rPr>
              <a:t>Identify relevant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Helvetica" pitchFamily="2" charset="0"/>
              </a:rPr>
              <a:t>Linear Regression Objective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9058"/>
            <a:ext cx="8229600" cy="3722914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Helvetica" pitchFamily="2" charset="0"/>
              </a:rPr>
              <a:t>Standard regression minimizes residual error:</a:t>
            </a:r>
          </a:p>
          <a:p>
            <a:pPr marL="0" indent="0">
              <a:buNone/>
            </a:pPr>
            <a:endParaRPr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MSE = min </a:t>
            </a:r>
            <a:r>
              <a:rPr lang="en-US" dirty="0" err="1">
                <a:latin typeface="Helvetica" pitchFamily="2" charset="0"/>
              </a:rPr>
              <a:t>Σ</a:t>
            </a:r>
            <a:r>
              <a:rPr lang="en-US" dirty="0">
                <a:latin typeface="Helvetica" pitchFamily="2" charset="0"/>
              </a:rPr>
              <a:t>(</a:t>
            </a:r>
            <a:r>
              <a:rPr lang="en-US" dirty="0" err="1">
                <a:latin typeface="Helvetica" pitchFamily="2" charset="0"/>
              </a:rPr>
              <a:t>y</a:t>
            </a:r>
            <a:r>
              <a:rPr lang="en-US" baseline="-25000" dirty="0" err="1">
                <a:latin typeface="Helvetica" pitchFamily="2" charset="0"/>
              </a:rPr>
              <a:t>i</a:t>
            </a:r>
            <a:r>
              <a:rPr lang="en-US" baseline="-25000" dirty="0">
                <a:latin typeface="Helvetica" pitchFamily="2" charset="0"/>
              </a:rPr>
              <a:t> </a:t>
            </a:r>
            <a:r>
              <a:rPr lang="en-US" dirty="0">
                <a:latin typeface="Helvetica" pitchFamily="2" charset="0"/>
              </a:rPr>
              <a:t>– </a:t>
            </a:r>
            <a:r>
              <a:rPr lang="en-US" dirty="0" err="1">
                <a:latin typeface="Helvetica" pitchFamily="2" charset="0"/>
              </a:rPr>
              <a:t>ŷ</a:t>
            </a:r>
            <a:r>
              <a:rPr lang="en-US" baseline="-25000" dirty="0" err="1">
                <a:latin typeface="Helvetica" pitchFamily="2" charset="0"/>
              </a:rPr>
              <a:t>i</a:t>
            </a:r>
            <a:r>
              <a:rPr lang="en-US" dirty="0">
                <a:latin typeface="Helvetica" pitchFamily="2" charset="0"/>
              </a:rPr>
              <a:t>)</a:t>
            </a:r>
            <a:r>
              <a:rPr lang="en-US" baseline="30000" dirty="0">
                <a:latin typeface="Helvetica" pitchFamily="2" charset="0"/>
              </a:rPr>
              <a:t>2 </a:t>
            </a:r>
            <a:r>
              <a:rPr lang="en-US" dirty="0">
                <a:latin typeface="Helvetica" pitchFamily="2" charset="0"/>
              </a:rPr>
              <a:t>= min </a:t>
            </a:r>
            <a:r>
              <a:rPr lang="en-US" dirty="0" err="1">
                <a:latin typeface="Helvetica" pitchFamily="2" charset="0"/>
              </a:rPr>
              <a:t>Σ</a:t>
            </a:r>
            <a:r>
              <a:rPr lang="en-US" dirty="0">
                <a:latin typeface="Helvetica" pitchFamily="2" charset="0"/>
              </a:rPr>
              <a:t>(</a:t>
            </a:r>
            <a:r>
              <a:rPr lang="en-US" dirty="0" err="1">
                <a:latin typeface="Helvetica" pitchFamily="2" charset="0"/>
              </a:rPr>
              <a:t>y</a:t>
            </a:r>
            <a:r>
              <a:rPr lang="en-US" baseline="-25000" dirty="0" err="1">
                <a:latin typeface="Helvetica" pitchFamily="2" charset="0"/>
              </a:rPr>
              <a:t>i</a:t>
            </a:r>
            <a:r>
              <a:rPr lang="en-US" baseline="-25000" dirty="0">
                <a:latin typeface="Helvetica" pitchFamily="2" charset="0"/>
              </a:rPr>
              <a:t> </a:t>
            </a:r>
            <a:r>
              <a:rPr lang="en-US" dirty="0">
                <a:latin typeface="Helvetica" pitchFamily="2" charset="0"/>
              </a:rPr>
              <a:t>– X</a:t>
            </a:r>
            <a:r>
              <a:rPr lang="en-US" baseline="-25000" dirty="0">
                <a:latin typeface="Helvetica" pitchFamily="2" charset="0"/>
              </a:rPr>
              <a:t>i</a:t>
            </a:r>
            <a:r>
              <a:rPr lang="en-US" dirty="0">
                <a:latin typeface="Helvetica" pitchFamily="2" charset="0"/>
              </a:rPr>
              <a:t>β)</a:t>
            </a:r>
            <a:r>
              <a:rPr lang="en-US" baseline="30000" dirty="0">
                <a:latin typeface="Helvetica" pitchFamily="2" charset="0"/>
              </a:rPr>
              <a:t>2 </a:t>
            </a:r>
          </a:p>
          <a:p>
            <a:pPr marL="0" indent="0">
              <a:buNone/>
            </a:pPr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Regularization adds penalty terms to control coefficient magnitude.</a:t>
            </a:r>
            <a:r>
              <a:rPr lang="en-US" dirty="0">
                <a:latin typeface="Helvetica" pitchFamily="2" charset="0"/>
              </a:rPr>
              <a:t> </a:t>
            </a:r>
          </a:p>
          <a:p>
            <a:r>
              <a:rPr lang="en-US" dirty="0">
                <a:latin typeface="Helvetica" pitchFamily="2" charset="0"/>
              </a:rPr>
              <a:t>High coefficient values = overfitted model</a:t>
            </a:r>
            <a:endParaRPr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Helvetica" pitchFamily="2" charset="0"/>
              </a:rPr>
              <a:t>L1 and L2 Regularization Penalties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800" dirty="0">
                <a:latin typeface="Helvetica" pitchFamily="2" charset="0"/>
              </a:rPr>
              <a:t>L1 Penalty (Lasso):</a:t>
            </a:r>
          </a:p>
          <a:p>
            <a:r>
              <a:rPr sz="2800" dirty="0" err="1">
                <a:latin typeface="Helvetica" pitchFamily="2" charset="0"/>
              </a:rPr>
              <a:t>λ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Σ</a:t>
            </a:r>
            <a:r>
              <a:rPr sz="2800" dirty="0">
                <a:latin typeface="Helvetica" pitchFamily="2" charset="0"/>
              </a:rPr>
              <a:t> |β</a:t>
            </a:r>
            <a:r>
              <a:rPr lang="en-US" sz="2800" baseline="-25000" dirty="0">
                <a:latin typeface="Helvetica" pitchFamily="2" charset="0"/>
              </a:rPr>
              <a:t>j</a:t>
            </a:r>
            <a:r>
              <a:rPr sz="2800" dirty="0">
                <a:latin typeface="Helvetica" pitchFamily="2" charset="0"/>
              </a:rPr>
              <a:t>|</a:t>
            </a:r>
          </a:p>
          <a:p>
            <a:r>
              <a:rPr sz="2800" dirty="0">
                <a:latin typeface="Helvetica" pitchFamily="2" charset="0"/>
              </a:rPr>
              <a:t>Encourages sparse solutions where many coefficients become zero.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>
                <a:latin typeface="Helvetica" pitchFamily="2" charset="0"/>
                <a:sym typeface="Wingdings" pitchFamily="2" charset="2"/>
              </a:rPr>
              <a:t> Robust feature selection method</a:t>
            </a:r>
            <a:endParaRPr sz="2800" dirty="0">
              <a:latin typeface="Helvetica" pitchFamily="2" charset="0"/>
            </a:endParaRPr>
          </a:p>
          <a:p>
            <a:endParaRPr sz="2800" dirty="0">
              <a:latin typeface="Helvetica" pitchFamily="2" charset="0"/>
            </a:endParaRPr>
          </a:p>
          <a:p>
            <a:r>
              <a:rPr sz="2800" dirty="0">
                <a:latin typeface="Helvetica" pitchFamily="2" charset="0"/>
              </a:rPr>
              <a:t>L2 Penalty (Ridge):</a:t>
            </a:r>
          </a:p>
          <a:p>
            <a:r>
              <a:rPr sz="2800" dirty="0" err="1">
                <a:latin typeface="Helvetica" pitchFamily="2" charset="0"/>
              </a:rPr>
              <a:t>λ</a:t>
            </a:r>
            <a:r>
              <a:rPr sz="2800" dirty="0">
                <a:latin typeface="Helvetica" pitchFamily="2" charset="0"/>
              </a:rPr>
              <a:t> </a:t>
            </a:r>
            <a:r>
              <a:rPr sz="2800" dirty="0" err="1">
                <a:latin typeface="Helvetica" pitchFamily="2" charset="0"/>
              </a:rPr>
              <a:t>Σ</a:t>
            </a:r>
            <a:r>
              <a:rPr sz="2800" dirty="0">
                <a:latin typeface="Helvetica" pitchFamily="2" charset="0"/>
              </a:rPr>
              <a:t> β</a:t>
            </a:r>
            <a:r>
              <a:rPr sz="2800" baseline="-25000" dirty="0">
                <a:latin typeface="Helvetica" pitchFamily="2" charset="0"/>
              </a:rPr>
              <a:t>j</a:t>
            </a:r>
            <a:r>
              <a:rPr lang="en-US" sz="2800" baseline="30000" dirty="0">
                <a:latin typeface="Helvetica" pitchFamily="2" charset="0"/>
              </a:rPr>
              <a:t>2</a:t>
            </a:r>
            <a:endParaRPr sz="2800" dirty="0">
              <a:latin typeface="Helvetica" pitchFamily="2" charset="0"/>
            </a:endParaRPr>
          </a:p>
          <a:p>
            <a:r>
              <a:rPr sz="2800" dirty="0">
                <a:latin typeface="Helvetica" pitchFamily="2" charset="0"/>
              </a:rPr>
              <a:t>Shrinks coefficients toward zero but typically keeps all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Helvetica" pitchFamily="2" charset="0"/>
              </a:rPr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Helvetica" pitchFamily="2" charset="0"/>
              </a:rPr>
              <a:t>Loss Function:</a:t>
            </a:r>
          </a:p>
          <a:p>
            <a:pPr marL="0" indent="0">
              <a:buNone/>
            </a:pPr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Key Properties:</a:t>
            </a:r>
          </a:p>
          <a:p>
            <a:r>
              <a:rPr dirty="0">
                <a:latin typeface="Helvetica" pitchFamily="2" charset="0"/>
              </a:rPr>
              <a:t>Uses L2 regularization</a:t>
            </a:r>
          </a:p>
          <a:p>
            <a:r>
              <a:rPr dirty="0">
                <a:latin typeface="Helvetica" pitchFamily="2" charset="0"/>
              </a:rPr>
              <a:t>Handles multicollinearity well</a:t>
            </a:r>
          </a:p>
          <a:p>
            <a:r>
              <a:rPr dirty="0">
                <a:latin typeface="Helvetica" pitchFamily="2" charset="0"/>
              </a:rPr>
              <a:t>Shrinks coefficients but keeps all variables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E345919-386E-7B82-073F-1793E69DC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051" y="1800679"/>
            <a:ext cx="3541092" cy="909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Helvetica" pitchFamily="2" charset="0"/>
                <a:cs typeface="Times New Roman" panose="02020603050405020304" pitchFamily="18" charset="0"/>
              </a:rPr>
              <a:t>Lasso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Helvetica" pitchFamily="2" charset="0"/>
              </a:rPr>
              <a:t>Loss Function:</a:t>
            </a:r>
          </a:p>
          <a:p>
            <a:pPr marL="0" indent="0">
              <a:buNone/>
            </a:pPr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Key Properties:</a:t>
            </a:r>
          </a:p>
          <a:p>
            <a:r>
              <a:rPr dirty="0">
                <a:latin typeface="Helvetica" pitchFamily="2" charset="0"/>
              </a:rPr>
              <a:t>Uses L1 regularization</a:t>
            </a:r>
          </a:p>
          <a:p>
            <a:r>
              <a:rPr dirty="0">
                <a:latin typeface="Helvetica" pitchFamily="2" charset="0"/>
              </a:rPr>
              <a:t>Performs automatic feature selection</a:t>
            </a:r>
          </a:p>
          <a:p>
            <a:r>
              <a:rPr dirty="0">
                <a:latin typeface="Helvetica" pitchFamily="2" charset="0"/>
              </a:rPr>
              <a:t>Some coefficients become exactly zero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E73A98B-EC37-ADB5-1409-93CAA933C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371" y="1600200"/>
            <a:ext cx="4448429" cy="1142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Helvetica" pitchFamily="2" charset="0"/>
              </a:rPr>
              <a:t>Elastic 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latin typeface="Helvetica" pitchFamily="2" charset="0"/>
              </a:rPr>
              <a:t>Loss Function:</a:t>
            </a:r>
          </a:p>
          <a:p>
            <a:endParaRPr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Combines strengths of Lasso and Ridge</a:t>
            </a:r>
            <a:r>
              <a:rPr lang="en-US" dirty="0">
                <a:latin typeface="Helvetica" pitchFamily="2" charset="0"/>
              </a:rPr>
              <a:t> in feature selection</a:t>
            </a:r>
          </a:p>
          <a:p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Removes multicollinearity, reduce the impact of features</a:t>
            </a:r>
            <a:endParaRPr dirty="0">
              <a:latin typeface="Helvetica" pitchFamily="2" charset="0"/>
            </a:endParaRPr>
          </a:p>
        </p:txBody>
      </p:sp>
      <p:pic>
        <p:nvPicPr>
          <p:cNvPr id="5" name="Picture 4" descr="A black background with math symbols&#10;&#10;AI-generated content may be incorrect.">
            <a:extLst>
              <a:ext uri="{FF2B5EF4-FFF2-40B4-BE49-F238E27FC236}">
                <a16:creationId xmlns:a16="http://schemas.microsoft.com/office/drawing/2014/main" id="{2F04133B-2293-82D6-B4B9-547B2422B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88" y="2029280"/>
            <a:ext cx="4581911" cy="2020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Helvetica" pitchFamily="2" charset="0"/>
              </a:rPr>
              <a:t>MRMR 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Helvetica" pitchFamily="2" charset="0"/>
              </a:rPr>
              <a:t>Minimum Redundancy Maximum Relevance (MRMR)</a:t>
            </a:r>
          </a:p>
          <a:p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Goal:</a:t>
            </a:r>
          </a:p>
          <a:p>
            <a:r>
              <a:rPr dirty="0">
                <a:latin typeface="Helvetica" pitchFamily="2" charset="0"/>
              </a:rPr>
              <a:t>Select features that are highly relevant to the target</a:t>
            </a:r>
          </a:p>
          <a:p>
            <a:r>
              <a:rPr dirty="0">
                <a:latin typeface="Helvetica" pitchFamily="2" charset="0"/>
              </a:rPr>
              <a:t>while minimizing redundancy between selected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Helvetica" pitchFamily="2" charset="0"/>
              </a:rPr>
              <a:t>Method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>
                <a:latin typeface="Helvetica" pitchFamily="2" charset="0"/>
              </a:rPr>
              <a:t>Ridge:</a:t>
            </a:r>
          </a:p>
          <a:p>
            <a:r>
              <a:rPr dirty="0">
                <a:latin typeface="Helvetica" pitchFamily="2" charset="0"/>
              </a:rPr>
              <a:t>• Penalty: L2</a:t>
            </a:r>
          </a:p>
          <a:p>
            <a:r>
              <a:rPr dirty="0">
                <a:latin typeface="Helvetica" pitchFamily="2" charset="0"/>
              </a:rPr>
              <a:t>• Feature selection: No</a:t>
            </a:r>
          </a:p>
          <a:p>
            <a:r>
              <a:rPr dirty="0">
                <a:latin typeface="Helvetica" pitchFamily="2" charset="0"/>
              </a:rPr>
              <a:t>• Handles correlation well</a:t>
            </a:r>
          </a:p>
          <a:p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Lasso:</a:t>
            </a:r>
          </a:p>
          <a:p>
            <a:r>
              <a:rPr dirty="0">
                <a:latin typeface="Helvetica" pitchFamily="2" charset="0"/>
              </a:rPr>
              <a:t>• Penalty: L1</a:t>
            </a:r>
          </a:p>
          <a:p>
            <a:r>
              <a:rPr dirty="0">
                <a:latin typeface="Helvetica" pitchFamily="2" charset="0"/>
              </a:rPr>
              <a:t>• Performs feature selection</a:t>
            </a:r>
          </a:p>
          <a:p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Elastic Net:</a:t>
            </a:r>
          </a:p>
          <a:p>
            <a:r>
              <a:rPr dirty="0">
                <a:latin typeface="Helvetica" pitchFamily="2" charset="0"/>
              </a:rPr>
              <a:t>• L1 + L2</a:t>
            </a:r>
          </a:p>
          <a:p>
            <a:r>
              <a:rPr dirty="0">
                <a:latin typeface="Helvetica" pitchFamily="2" charset="0"/>
              </a:rPr>
              <a:t>• Good for correlated features</a:t>
            </a:r>
          </a:p>
          <a:p>
            <a:endParaRPr dirty="0">
              <a:latin typeface="Helvetica" pitchFamily="2" charset="0"/>
            </a:endParaRPr>
          </a:p>
          <a:p>
            <a:r>
              <a:rPr dirty="0">
                <a:latin typeface="Helvetica" pitchFamily="2" charset="0"/>
              </a:rPr>
              <a:t>MRMR:</a:t>
            </a:r>
          </a:p>
          <a:p>
            <a:r>
              <a:rPr dirty="0">
                <a:latin typeface="Helvetica" pitchFamily="2" charset="0"/>
              </a:rPr>
              <a:t>• Mutual information filter method</a:t>
            </a:r>
          </a:p>
          <a:p>
            <a:r>
              <a:rPr dirty="0">
                <a:latin typeface="Helvetica" pitchFamily="2" charset="0"/>
              </a:rPr>
              <a:t>• Explicitly reduces redundancy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321</Words>
  <Application>Microsoft Macintosh PowerPoint</Application>
  <PresentationFormat>On-screen Show (4:3)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Helvetica</vt:lpstr>
      <vt:lpstr>Office Theme</vt:lpstr>
      <vt:lpstr>Feature Selection Methods in Machine Learning</vt:lpstr>
      <vt:lpstr>Why Feature Selection?</vt:lpstr>
      <vt:lpstr>Linear Regression Objective Function</vt:lpstr>
      <vt:lpstr>L1 and L2 Regularization Penalties</vt:lpstr>
      <vt:lpstr>Ridge Regression</vt:lpstr>
      <vt:lpstr>Lasso Regression</vt:lpstr>
      <vt:lpstr>Elastic Net</vt:lpstr>
      <vt:lpstr>MRMR Feature Selection</vt:lpstr>
      <vt:lpstr>Method Comparison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Bonakdar, Sina</cp:lastModifiedBy>
  <cp:revision>21</cp:revision>
  <dcterms:created xsi:type="dcterms:W3CDTF">2013-01-27T09:14:16Z</dcterms:created>
  <dcterms:modified xsi:type="dcterms:W3CDTF">2026-03-16T16:40:08Z</dcterms:modified>
  <cp:category/>
</cp:coreProperties>
</file>